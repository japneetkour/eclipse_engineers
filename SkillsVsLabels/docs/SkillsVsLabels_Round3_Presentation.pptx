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1cc6a5f-ffc0-90c7-deb6-e9b94fe9de17}">
          <p14:sldIdLst>
            <p14:sldId id="256"/>
            <p14:sldId id="257"/>
            <p14:sldId id="258"/>
            <p14:sldId id="259"/>
          </p14:sldIdLst>
        </p14:section>
        <p14:section name="The market" id="{ebf49061-4577-4f50-5a1d-dc912b07d0a6}">
          <p14:sldIdLst>
            <p14:sldId id="260"/>
            <p14:sldId id="261"/>
            <p14:sldId id="262"/>
            <p14:sldId id="263"/>
          </p14:sldIdLst>
        </p14:section>
        <p14:section name="Inside the firm" id="{e1efac05-61f9-2388-fdf2-40035c515890}">
          <p14:sldIdLst>
            <p14:sldId id="264"/>
            <p14:sldId id="265"/>
            <p14:sldId id="266"/>
          </p14:sldIdLst>
        </p14:section>
        <p14:section name="Solution" id="{37600a2d-6296-fb99-66a1-019e30032d5b}">
          <p14:sldIdLst>
            <p14:sldId id="267"/>
            <p14:sldId id="268"/>
          </p14:sldIdLst>
        </p14:section>
        <p14:section name="Close" id="{27262707-02ae-d2a4-0034-377f2e9ee91e}">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3B"/>
                </a:solidFill>
                <a:latin typeface="+mn-lt"/>
              </a:defRPr>
            </a:pPr>
            <a:r>
              <a:rPr sz="1200" b="0" i="0" u="none" strike="noStrike">
                <a:solidFill>
                  <a:srgbClr val="1B1F3B"/>
                </a:solidFill>
                <a:latin typeface="+mn-lt"/>
              </a:rPr>
              <a:t>Pay premium, title + city + experience held fixed</a:t>
            </a:r>
          </a:p>
        </c:rich>
      </c:tx>
      <c:layout/>
      <c:overlay val="0"/>
    </c:title>
    <c:autoTitleDeleted val="0"/>
    <c:plotArea>
      <c:layout/>
      <c:barChart>
        <c:barDir val="bar"/>
        <c:grouping val="clustered"/>
        <c:varyColors val="0"/>
        <c:ser>
          <c:idx val="0"/>
          <c:order val="0"/>
          <c:tx>
            <c:strRef>
              <c:f>Sheet1!$B$1</c:f>
              <c:strCache>
                <c:ptCount val="1"/>
                <c:pt idx="0">
                  <c:v>Premium %</c:v>
                </c:pt>
              </c:strCache>
            </c:strRef>
          </c:tx>
          <c:spPr>
            <a:solidFill>
              <a:srgbClr val="2A78D6"/>
            </a:solidFill>
            <a:effectLst/>
          </c:spPr>
          <c:invertIfNegative val="0"/>
          <c:dLbls>
            <c:numFmt formatCode="+0&quot;%&quot;;-0&quot;%&quot;" sourceLinked="0"/>
            <c:txPr>
              <a:bodyPr/>
              <a:lstStyle/>
              <a:p>
                <a:pPr>
                  <a:defRPr b="0" i="0" strike="noStrike" sz="1000" u="none">
                    <a:solidFill>
                      <a:srgbClr val="1B1F3B"/>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2A78D6"/>
              </a:solidFill>
              <a:effectLst/>
            </c:spPr>
          </c:dPt>
          <c:dPt>
            <c:idx val="2"/>
            <c:invertIfNegative val="0"/>
            <c:bubble3D val="0"/>
            <c:spPr>
              <a:solidFill>
                <a:srgbClr val="2A78D6"/>
              </a:solidFill>
              <a:effectLst/>
            </c:spPr>
          </c:dPt>
          <c:dPt>
            <c:idx val="3"/>
            <c:invertIfNegative val="0"/>
            <c:bubble3D val="0"/>
            <c:spPr>
              <a:solidFill>
                <a:srgbClr val="2A78D6"/>
              </a:solidFill>
              <a:effectLst/>
            </c:spPr>
          </c:dPt>
          <c:dPt>
            <c:idx val="4"/>
            <c:invertIfNegative val="0"/>
            <c:bubble3D val="0"/>
            <c:spPr>
              <a:solidFill>
                <a:srgbClr val="2A78D6"/>
              </a:solidFill>
              <a:effectLst/>
            </c:spPr>
          </c:dPt>
          <c:dPt>
            <c:idx val="5"/>
            <c:invertIfNegative val="0"/>
            <c:bubble3D val="0"/>
            <c:spPr>
              <a:solidFill>
                <a:srgbClr val="2A78D6"/>
              </a:solidFill>
              <a:effectLst/>
            </c:spPr>
          </c:dPt>
          <c:dPt>
            <c:idx val="6"/>
            <c:invertIfNegative val="0"/>
            <c:bubble3D val="0"/>
            <c:spPr>
              <a:solidFill>
                <a:srgbClr val="8A93A6"/>
              </a:solidFill>
              <a:effectLst/>
            </c:spPr>
          </c:dPt>
          <c:dPt>
            <c:idx val="7"/>
            <c:invertIfNegative val="0"/>
            <c:bubble3D val="0"/>
            <c:spPr>
              <a:solidFill>
                <a:srgbClr val="E34948"/>
              </a:solidFill>
              <a:effectLst/>
            </c:spPr>
          </c:dPt>
          <c:dPt>
            <c:idx val="8"/>
            <c:invertIfNegative val="0"/>
            <c:bubble3D val="0"/>
            <c:spPr>
              <a:solidFill>
                <a:srgbClr val="E34948"/>
              </a:solidFill>
              <a:effectLst/>
            </c:spPr>
          </c:dPt>
          <c:cat>
            <c:multiLvlStrRef>
              <c:f>Sheet1!$A$2:$A$10</c:f>
              <c:multiLvlStrCache>
                <c:ptCount val="9"/>
                <c:lvl>
                  <c:pt idx="0">
                    <c:v>java</c:v>
                  </c:pt>
                  <c:pt idx="1">
                    <c:v>business analysis</c:v>
                  </c:pt>
                  <c:pt idx="2">
                    <c:v>sql</c:v>
                  </c:pt>
                  <c:pt idx="3">
                    <c:v>sas</c:v>
                  </c:pt>
                  <c:pt idx="4">
                    <c:v>machine learning</c:v>
                  </c:pt>
                  <c:pt idx="5">
                    <c:v>python</c:v>
                  </c:pt>
                  <c:pt idx="6">
                    <c:v>big data</c:v>
                  </c:pt>
                  <c:pt idx="7">
                    <c:v>excel</c:v>
                  </c:pt>
                  <c:pt idx="8">
                    <c:v>seo</c:v>
                  </c:pt>
                </c:lvl>
              </c:multiLvlStrCache>
            </c:multiLvlStrRef>
          </c:cat>
          <c:val>
            <c:numRef>
              <c:f>Sheet1!$B$2:$B$10</c:f>
              <c:numCache>
                <c:formatCode>General</c:formatCode>
                <c:ptCount val="9"/>
                <c:pt idx="0">
                  <c:v>22.8</c:v>
                </c:pt>
                <c:pt idx="1">
                  <c:v>18.7</c:v>
                </c:pt>
                <c:pt idx="2">
                  <c:v>18.2</c:v>
                </c:pt>
                <c:pt idx="3">
                  <c:v>16.2</c:v>
                </c:pt>
                <c:pt idx="4">
                  <c:v>13.9</c:v>
                </c:pt>
                <c:pt idx="5">
                  <c:v>7.9</c:v>
                </c:pt>
                <c:pt idx="6">
                  <c:v>5.8</c:v>
                </c:pt>
                <c:pt idx="7">
                  <c:v>-10.9</c:v>
                </c:pt>
                <c:pt idx="8">
                  <c:v>-11.6</c:v>
                </c:pt>
              </c:numCache>
            </c:numRef>
          </c:val>
        </c:ser>
        <c:dLbls>
          <c:numFmt formatCode="+0&quot;%&quot;;-0&quot;%&quot;" sourceLinked="0"/>
          <c:txPr>
            <a:bodyPr/>
            <a:lstStyle/>
            <a:p>
              <a:pPr>
                <a:defRPr b="0" i="0" strike="noStrike" sz="1000" u="none">
                  <a:solidFill>
                    <a:srgbClr val="1B1F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B4466"/>
                </a:solidFill>
                <a:latin typeface="+mn-lt"/>
              </a:defRPr>
            </a:pPr>
            <a:endParaRPr lang="en-US"/>
          </a:p>
        </c:txPr>
        <c:crossAx val="2094734552"/>
        <c:crosses val="autoZero"/>
        <c:auto val="1"/>
        <c:lblAlgn val="ctr"/>
        <c:noMultiLvlLbl val="1"/>
      </c:catAx>
      <c:valAx>
        <c:axId val="2094734552"/>
        <c:scaling>
          <c:orientation val="minMax"/>
          <c:max val="30"/>
          <c:min val="-15"/>
        </c:scaling>
        <c:delete val="0"/>
        <c:axPos val="b"/>
        <c:majorGridlines>
          <c:spPr>
            <a:ln w="6350" cap="flat">
              <a:solidFill>
                <a:srgbClr val="E4E5EB"/>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3B44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3B"/>
                </a:solidFill>
                <a:latin typeface="+mn-lt"/>
              </a:defRPr>
            </a:pPr>
            <a:r>
              <a:rPr sz="1200" b="0" i="0" u="none" strike="noStrike">
                <a:solidFill>
                  <a:srgbClr val="1B1F3B"/>
                </a:solidFill>
                <a:latin typeface="+mn-lt"/>
              </a:rPr>
              <a:t>% pay vs the average title</a:t>
            </a:r>
          </a:p>
        </c:rich>
      </c:tx>
      <c:layout/>
      <c:overlay val="0"/>
    </c:title>
    <c:autoTitleDeleted val="0"/>
    <c:plotArea>
      <c:layout/>
      <c:barChart>
        <c:barDir val="bar"/>
        <c:grouping val="clustered"/>
        <c:varyColors val="0"/>
        <c:ser>
          <c:idx val="0"/>
          <c:order val="0"/>
          <c:tx>
            <c:strRef>
              <c:f>Sheet1!$B$1</c:f>
              <c:strCache>
                <c:ptCount val="1"/>
                <c:pt idx="0">
                  <c:v>Title only (Model A)</c:v>
                </c:pt>
              </c:strCache>
            </c:strRef>
          </c:tx>
          <c:spPr>
            <a:solidFill>
              <a:srgbClr val="B9BDCB"/>
            </a:solidFill>
            <a:effectLst/>
          </c:spPr>
          <c:invertIfNegative val="0"/>
          <c:dLbls>
            <c:numFmt formatCode="#,##0" sourceLinked="0"/>
            <c:txPr>
              <a:bodyPr/>
              <a:lstStyle/>
              <a:p>
                <a:pPr>
                  <a:defRPr b="0" i="0" strike="noStrike" sz="1000" u="none">
                    <a:solidFill>
                      <a:srgbClr val="1B1F3B"/>
                    </a:solidFill>
                    <a:latin typeface="+mn-lt"/>
                  </a:defRPr>
                </a:pPr>
              </a:p>
            </c:txPr>
            <c:showLegendKey val="0"/>
            <c:showVal val="0"/>
            <c:showCatName val="0"/>
            <c:showSerName val="0"/>
            <c:showPercent val="0"/>
            <c:showBubbleSize val="0"/>
            <c:showLeaderLines val="0"/>
          </c:dLbls>
          <c:cat>
            <c:multiLvlStrRef>
              <c:f>Sheet1!$A$2:$A$8</c:f>
              <c:multiLvlStrCache>
                <c:ptCount val="7"/>
                <c:lvl>
                  <c:pt idx="0">
                    <c:v>ML Engineer</c:v>
                  </c:pt>
                  <c:pt idx="1">
                    <c:v>Data Scientist</c:v>
                  </c:pt>
                  <c:pt idx="2">
                    <c:v>Data Engineer</c:v>
                  </c:pt>
                  <c:pt idx="3">
                    <c:v>Manager</c:v>
                  </c:pt>
                  <c:pt idx="4">
                    <c:v>Data Analyst</c:v>
                  </c:pt>
                  <c:pt idx="5">
                    <c:v>BI</c:v>
                  </c:pt>
                  <c:pt idx="6">
                    <c:v>Other</c:v>
                  </c:pt>
                </c:lvl>
              </c:multiLvlStrCache>
            </c:multiLvlStrRef>
          </c:cat>
          <c:val>
            <c:numRef>
              <c:f>Sheet1!$B$2:$B$8</c:f>
              <c:numCache>
                <c:formatCode>General</c:formatCode>
                <c:ptCount val="7"/>
                <c:pt idx="0">
                  <c:v>45.2</c:v>
                </c:pt>
                <c:pt idx="1">
                  <c:v>24</c:v>
                </c:pt>
                <c:pt idx="2">
                  <c:v>3.6</c:v>
                </c:pt>
                <c:pt idx="3">
                  <c:v>0.3</c:v>
                </c:pt>
                <c:pt idx="4">
                  <c:v>-13</c:v>
                </c:pt>
                <c:pt idx="5">
                  <c:v>-20.2</c:v>
                </c:pt>
                <c:pt idx="6">
                  <c:v>-23</c:v>
                </c:pt>
              </c:numCache>
            </c:numRef>
          </c:val>
        </c:ser>
        <c:ser>
          <c:idx val="1"/>
          <c:order val="1"/>
          <c:tx>
            <c:strRef>
              <c:f>Sheet1!$C$1</c:f>
              <c:strCache>
                <c:ptCount val="1"/>
                <c:pt idx="0">
                  <c:v>After 30 skills (Model B)</c:v>
                </c:pt>
              </c:strCache>
            </c:strRef>
          </c:tx>
          <c:spPr>
            <a:solidFill>
              <a:srgbClr val="E8673C"/>
            </a:solidFill>
            <a:effectLst/>
          </c:spPr>
          <c:invertIfNegative val="0"/>
          <c:dLbls>
            <c:numFmt formatCode="#,##0" sourceLinked="0"/>
            <c:txPr>
              <a:bodyPr/>
              <a:lstStyle/>
              <a:p>
                <a:pPr>
                  <a:defRPr b="0" i="0" strike="noStrike" sz="1000" u="none">
                    <a:solidFill>
                      <a:srgbClr val="1B1F3B"/>
                    </a:solidFill>
                    <a:latin typeface="+mn-lt"/>
                  </a:defRPr>
                </a:pPr>
              </a:p>
            </c:txPr>
            <c:showLegendKey val="0"/>
            <c:showVal val="0"/>
            <c:showCatName val="0"/>
            <c:showSerName val="0"/>
            <c:showPercent val="0"/>
            <c:showBubbleSize val="0"/>
            <c:showLeaderLines val="0"/>
          </c:dLbls>
          <c:cat>
            <c:multiLvlStrRef>
              <c:f>Sheet1!$A$2:$A$8</c:f>
              <c:multiLvlStrCache>
                <c:ptCount val="7"/>
                <c:lvl>
                  <c:pt idx="0">
                    <c:v>ML Engineer</c:v>
                  </c:pt>
                  <c:pt idx="1">
                    <c:v>Data Scientist</c:v>
                  </c:pt>
                  <c:pt idx="2">
                    <c:v>Data Engineer</c:v>
                  </c:pt>
                  <c:pt idx="3">
                    <c:v>Manager</c:v>
                  </c:pt>
                  <c:pt idx="4">
                    <c:v>Data Analyst</c:v>
                  </c:pt>
                  <c:pt idx="5">
                    <c:v>BI</c:v>
                  </c:pt>
                  <c:pt idx="6">
                    <c:v>Other</c:v>
                  </c:pt>
                </c:lvl>
              </c:multiLvlStrCache>
            </c:multiLvlStrRef>
          </c:cat>
          <c:val>
            <c:numRef>
              <c:f>Sheet1!$C$2:$C$8</c:f>
              <c:numCache>
                <c:formatCode>General</c:formatCode>
                <c:ptCount val="7"/>
                <c:pt idx="0">
                  <c:v>30.9</c:v>
                </c:pt>
                <c:pt idx="1">
                  <c:v>16</c:v>
                </c:pt>
                <c:pt idx="2">
                  <c:v>-0.2</c:v>
                </c:pt>
                <c:pt idx="3">
                  <c:v>8</c:v>
                </c:pt>
                <c:pt idx="4">
                  <c:v>-10</c:v>
                </c:pt>
                <c:pt idx="5">
                  <c:v>-16.9</c:v>
                </c:pt>
                <c:pt idx="6">
                  <c:v>-18.3</c:v>
                </c:pt>
              </c:numCache>
            </c:numRef>
          </c:val>
        </c:ser>
        <c:dLbls>
          <c:numFmt formatCode="#,##0" sourceLinked="0"/>
          <c:txPr>
            <a:bodyPr/>
            <a:lstStyle/>
            <a:p>
              <a:pPr>
                <a:defRPr b="0" i="0" strike="noStrike" sz="1000" u="none">
                  <a:solidFill>
                    <a:srgbClr val="1B1F3B"/>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B4466"/>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4E5EB"/>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3B44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3B"/>
                </a:solidFill>
                <a:latin typeface="+mn-lt"/>
              </a:defRPr>
            </a:pPr>
            <a:r>
              <a:rPr sz="1200" b="0" i="0" u="none" strike="noStrike">
                <a:solidFill>
                  <a:srgbClr val="1B1F3B"/>
                </a:solidFill>
                <a:latin typeface="+mn-lt"/>
              </a:rPr>
              <a:t>DS Jobs: premium vs Data Analyst at equal required experience</a:t>
            </a:r>
          </a:p>
        </c:rich>
      </c:tx>
      <c:layout/>
      <c:overlay val="0"/>
    </c:title>
    <c:autoTitleDeleted val="0"/>
    <c:plotArea>
      <c:layout/>
      <c:barChart>
        <c:barDir val="bar"/>
        <c:grouping val="clustered"/>
        <c:varyColors val="0"/>
        <c:ser>
          <c:idx val="0"/>
          <c:order val="0"/>
          <c:tx>
            <c:strRef>
              <c:f>Sheet1!$B$1</c:f>
              <c:strCache>
                <c:ptCount val="1"/>
                <c:pt idx="0">
                  <c:v>Premium</c:v>
                </c:pt>
              </c:strCache>
            </c:strRef>
          </c:tx>
          <c:spPr>
            <a:solidFill>
              <a:srgbClr val="E8673C"/>
            </a:solidFill>
            <a:effectLst/>
          </c:spPr>
          <c:invertIfNegative val="0"/>
          <c:dLbls>
            <c:numFmt formatCode="+0&quot;%&quot;" sourceLinked="0"/>
            <c:txPr>
              <a:bodyPr/>
              <a:lstStyle/>
              <a:p>
                <a:pPr>
                  <a:defRPr b="0" i="0" strike="noStrike" sz="1000" u="none">
                    <a:solidFill>
                      <a:srgbClr val="1B1F3B"/>
                    </a:solidFill>
                    <a:latin typeface="+mn-lt"/>
                  </a:defRPr>
                </a:pPr>
              </a:p>
            </c:txPr>
            <c:showLegendKey val="0"/>
            <c:showVal val="1"/>
            <c:showCatName val="0"/>
            <c:showSerName val="0"/>
            <c:showPercent val="0"/>
            <c:showBubbleSize val="0"/>
            <c:showLeaderLines val="0"/>
          </c:dLbls>
          <c:cat>
            <c:multiLvlStrRef>
              <c:f>Sheet1!$A$2:$A$11</c:f>
              <c:multiLvlStrCache>
                <c:ptCount val="10"/>
                <c:lvl>
                  <c:pt idx="0">
                    <c:v>Senior Data Scientist</c:v>
                  </c:pt>
                  <c:pt idx="1">
                    <c:v>Data Scientist</c:v>
                  </c:pt>
                  <c:pt idx="2">
                    <c:v>Senior Data Engineer</c:v>
                  </c:pt>
                  <c:pt idx="3">
                    <c:v>Data Engineer</c:v>
                  </c:pt>
                  <c:pt idx="4">
                    <c:v>Senior Business Analyst</c:v>
                  </c:pt>
                  <c:pt idx="5">
                    <c:v>Data Architect</c:v>
                  </c:pt>
                  <c:pt idx="6">
                    <c:v>Machine Learning Engineer</c:v>
                  </c:pt>
                  <c:pt idx="7">
                    <c:v>Business Analyst</c:v>
                  </c:pt>
                  <c:pt idx="8">
                    <c:v>Senior Data Analyst</c:v>
                  </c:pt>
                  <c:pt idx="9">
                    <c:v>Data Analyst</c:v>
                  </c:pt>
                </c:lvl>
              </c:multiLvlStrCache>
            </c:multiLvlStrRef>
          </c:cat>
          <c:val>
            <c:numRef>
              <c:f>Sheet1!$B$2:$B$11</c:f>
              <c:numCache>
                <c:formatCode>General</c:formatCode>
                <c:ptCount val="10"/>
                <c:pt idx="0">
                  <c:v>194</c:v>
                </c:pt>
                <c:pt idx="1">
                  <c:v>134</c:v>
                </c:pt>
                <c:pt idx="2">
                  <c:v>132</c:v>
                </c:pt>
                <c:pt idx="3">
                  <c:v>98</c:v>
                </c:pt>
                <c:pt idx="4">
                  <c:v>74</c:v>
                </c:pt>
                <c:pt idx="5">
                  <c:v>70</c:v>
                </c:pt>
                <c:pt idx="6">
                  <c:v>62</c:v>
                </c:pt>
                <c:pt idx="7">
                  <c:v>53</c:v>
                </c:pt>
                <c:pt idx="8">
                  <c:v>36</c:v>
                </c:pt>
                <c:pt idx="9">
                  <c:v>0</c:v>
                </c:pt>
              </c:numCache>
            </c:numRef>
          </c:val>
        </c:ser>
        <c:dLbls>
          <c:numFmt formatCode="+0&quot;%&quot;" sourceLinked="0"/>
          <c:txPr>
            <a:bodyPr/>
            <a:lstStyle/>
            <a:p>
              <a:pPr>
                <a:defRPr b="0" i="0" strike="noStrike" sz="1000" u="none">
                  <a:solidFill>
                    <a:srgbClr val="1B1F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B4466"/>
                </a:solidFill>
                <a:latin typeface="+mn-lt"/>
              </a:defRPr>
            </a:pPr>
            <a:endParaRPr lang="en-US"/>
          </a:p>
        </c:txPr>
        <c:crossAx val="2094734552"/>
        <c:crosses val="autoZero"/>
        <c:auto val="1"/>
        <c:lblAlgn val="ctr"/>
        <c:noMultiLvlLbl val="1"/>
      </c:catAx>
      <c:valAx>
        <c:axId val="2094734552"/>
        <c:scaling>
          <c:orientation val="minMax"/>
          <c:max val="240"/>
          <c:min val="0"/>
        </c:scaling>
        <c:delete val="0"/>
        <c:axPos val="b"/>
        <c:majorGridlines>
          <c:spPr>
            <a:ln w="6350" cap="flat">
              <a:solidFill>
                <a:srgbClr val="E4E5EB"/>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3B44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3B"/>
                </a:solidFill>
                <a:latin typeface="+mn-lt"/>
              </a:defRPr>
            </a:pPr>
            <a:r>
              <a:rPr sz="1200" b="0" i="0" u="none" strike="noStrike">
                <a:solidFill>
                  <a:srgbClr val="1B1F3B"/>
                </a:solidFill>
                <a:latin typeface="+mn-lt"/>
              </a:rPr>
              <a:t>Salary (₹ lakh) by years of experience</a:t>
            </a:r>
          </a:p>
        </c:rich>
      </c:tx>
      <c:layout/>
      <c:overlay val="0"/>
    </c:title>
    <c:autoTitleDeleted val="0"/>
    <c:plotArea>
      <c:layout/>
      <c:lineChart>
        <c:varyColors val="0"/>
        <c:ser>
          <c:idx val="0"/>
          <c:order val="0"/>
          <c:tx>
            <c:strRef>
              <c:f>Sheet1!$B$1</c:f>
              <c:strCache>
                <c:ptCount val="1"/>
                <c:pt idx="0">
                  <c:v>Median</c:v>
                </c:pt>
              </c:strCache>
            </c:strRef>
          </c:tx>
          <c:spPr>
            <a:solidFill>
              <a:srgbClr val="2A78D6"/>
            </a:solidFill>
            <a:ln w="31750" cap="flat">
              <a:solidFill>
                <a:srgbClr val="2A78D6"/>
              </a:solidFill>
              <a:prstDash val="solid"/>
              <a:round/>
            </a:ln>
            <a:effectLst/>
          </c:spPr>
          <c:invertIfNegative val="0"/>
          <c:dLbls>
            <c:numFmt formatCode="#,##0" sourceLinked="0"/>
            <c:txPr>
              <a:bodyPr/>
              <a:lstStyle/>
              <a:p>
                <a:pPr>
                  <a:defRPr b="0" i="0" strike="noStrike" sz="1000" u="none">
                    <a:solidFill>
                      <a:srgbClr val="1B1F3B"/>
                    </a:solidFill>
                    <a:latin typeface="+mn-lt"/>
                  </a:defRPr>
                </a:pPr>
              </a:p>
            </c:txPr>
            <c:showLegendKey val="0"/>
            <c:showVal val="0"/>
            <c:showCatName val="0"/>
            <c:showSerName val="0"/>
            <c:showPercent val="0"/>
            <c:showBubbleSize val="0"/>
            <c:showLeaderLines val="0"/>
          </c:dLbls>
          <c:marker>
            <c:symbol val="circle"/>
            <c:size val="6"/>
            <c:spPr>
              <a:solidFill>
                <a:srgbClr val="2A78D6"/>
              </a:solidFill>
              <a:ln w="9525" cap="flat">
                <a:solidFill>
                  <a:srgbClr val="2A78D6"/>
                </a:solidFill>
                <a:prstDash val="solid"/>
                <a:round/>
              </a:ln>
              <a:effectLst/>
            </c:spPr>
          </c:marker>
          <c:cat>
            <c:multiLvlStrRef>
              <c:f>Sheet1!$A$2:$A$18</c:f>
              <c:multiLvlStrCache>
                <c:ptCount val="17"/>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lvl>
              </c:multiLvlStrCache>
            </c:multiLvlStrRef>
          </c:cat>
          <c:val>
            <c:numRef>
              <c:f>Sheet1!$B$2:$B$18</c:f>
              <c:numCache>
                <c:formatCode>General</c:formatCode>
                <c:ptCount val="17"/>
                <c:pt idx="0">
                  <c:v>1.5</c:v>
                </c:pt>
                <c:pt idx="1">
                  <c:v>1.5</c:v>
                </c:pt>
                <c:pt idx="2">
                  <c:v>1.5</c:v>
                </c:pt>
                <c:pt idx="3">
                  <c:v>4.5</c:v>
                </c:pt>
                <c:pt idx="4">
                  <c:v>8</c:v>
                </c:pt>
                <c:pt idx="5">
                  <c:v>8</c:v>
                </c:pt>
                <c:pt idx="6">
                  <c:v>12.5</c:v>
                </c:pt>
                <c:pt idx="7">
                  <c:v>12.5</c:v>
                </c:pt>
                <c:pt idx="8">
                  <c:v>12.5</c:v>
                </c:pt>
                <c:pt idx="9">
                  <c:v>12.5</c:v>
                </c:pt>
                <c:pt idx="10">
                  <c:v>20</c:v>
                </c:pt>
                <c:pt idx="11">
                  <c:v>12.5</c:v>
                </c:pt>
                <c:pt idx="12">
                  <c:v>20</c:v>
                </c:pt>
                <c:pt idx="13">
                  <c:v>20</c:v>
                </c:pt>
                <c:pt idx="14">
                  <c:v>20</c:v>
                </c:pt>
                <c:pt idx="15">
                  <c:v>20</c:v>
                </c:pt>
                <c:pt idx="16">
                  <c:v>20</c:v>
                </c:pt>
              </c:numCache>
            </c:numRef>
          </c:val>
          <c:smooth val="0"/>
        </c:ser>
        <c:ser>
          <c:idx val="1"/>
          <c:order val="1"/>
          <c:tx>
            <c:strRef>
              <c:f>Sheet1!$C$1</c:f>
              <c:strCache>
                <c:ptCount val="1"/>
                <c:pt idx="0">
                  <c:v>75th percentile</c:v>
                </c:pt>
              </c:strCache>
            </c:strRef>
          </c:tx>
          <c:spPr>
            <a:solidFill>
              <a:srgbClr val="B9BDCB"/>
            </a:solidFill>
            <a:ln w="31750" cap="flat">
              <a:solidFill>
                <a:srgbClr val="B9BDCB"/>
              </a:solidFill>
              <a:prstDash val="solid"/>
              <a:round/>
            </a:ln>
            <a:effectLst/>
          </c:spPr>
          <c:invertIfNegative val="0"/>
          <c:dLbls>
            <c:numFmt formatCode="#,##0" sourceLinked="0"/>
            <c:txPr>
              <a:bodyPr/>
              <a:lstStyle/>
              <a:p>
                <a:pPr>
                  <a:defRPr b="0" i="0" strike="noStrike" sz="1000" u="none">
                    <a:solidFill>
                      <a:srgbClr val="1B1F3B"/>
                    </a:solidFill>
                    <a:latin typeface="+mn-lt"/>
                  </a:defRPr>
                </a:pPr>
              </a:p>
            </c:txPr>
            <c:showLegendKey val="0"/>
            <c:showVal val="0"/>
            <c:showCatName val="0"/>
            <c:showSerName val="0"/>
            <c:showPercent val="0"/>
            <c:showBubbleSize val="0"/>
            <c:showLeaderLines val="0"/>
          </c:dLbls>
          <c:marker>
            <c:symbol val="circle"/>
            <c:size val="6"/>
            <c:spPr>
              <a:solidFill>
                <a:srgbClr val="B9BDCB"/>
              </a:solidFill>
              <a:ln w="9525" cap="flat">
                <a:solidFill>
                  <a:srgbClr val="B9BDCB"/>
                </a:solidFill>
                <a:prstDash val="solid"/>
                <a:round/>
              </a:ln>
              <a:effectLst/>
            </c:spPr>
          </c:marker>
          <c:cat>
            <c:multiLvlStrRef>
              <c:f>Sheet1!$A$2:$A$18</c:f>
              <c:multiLvlStrCache>
                <c:ptCount val="17"/>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lvl>
              </c:multiLvlStrCache>
            </c:multiLvlStrRef>
          </c:cat>
          <c:val>
            <c:numRef>
              <c:f>Sheet1!$C$2:$C$18</c:f>
              <c:numCache>
                <c:formatCode>General</c:formatCode>
                <c:ptCount val="17"/>
                <c:pt idx="0">
                  <c:v>1.5</c:v>
                </c:pt>
                <c:pt idx="1">
                  <c:v>4.5</c:v>
                </c:pt>
                <c:pt idx="2">
                  <c:v>4.5</c:v>
                </c:pt>
                <c:pt idx="3">
                  <c:v>8</c:v>
                </c:pt>
                <c:pt idx="4">
                  <c:v>12.5</c:v>
                </c:pt>
                <c:pt idx="5">
                  <c:v>12.5</c:v>
                </c:pt>
                <c:pt idx="6">
                  <c:v>20</c:v>
                </c:pt>
                <c:pt idx="7">
                  <c:v>20</c:v>
                </c:pt>
                <c:pt idx="8">
                  <c:v>20</c:v>
                </c:pt>
                <c:pt idx="9">
                  <c:v>20</c:v>
                </c:pt>
                <c:pt idx="10">
                  <c:v>20</c:v>
                </c:pt>
                <c:pt idx="11">
                  <c:v>20</c:v>
                </c:pt>
                <c:pt idx="12">
                  <c:v>37.5</c:v>
                </c:pt>
                <c:pt idx="13">
                  <c:v>37.5</c:v>
                </c:pt>
                <c:pt idx="14">
                  <c:v>37.5</c:v>
                </c:pt>
                <c:pt idx="15">
                  <c:v>37.5</c:v>
                </c:pt>
                <c:pt idx="16">
                  <c:v>37.5</c:v>
                </c:pt>
              </c:numCache>
            </c:numRef>
          </c:val>
          <c:smooth val="0"/>
        </c:ser>
        <c:dLbls>
          <c:numFmt formatCode="#,##0" sourceLinked="0"/>
          <c:txPr>
            <a:bodyPr/>
            <a:lstStyle/>
            <a:p>
              <a:pPr>
                <a:defRPr b="0" i="0" strike="noStrike" sz="1000" u="none">
                  <a:solidFill>
                    <a:srgbClr val="1B1F3B"/>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3B4466"/>
                    </a:solidFill>
                    <a:latin typeface="Arial"/>
                  </a:defRPr>
                </a:pPr>
                <a:r>
                  <a:rPr sz="1000" b="0" i="0" u="none" strike="noStrike">
                    <a:solidFill>
                      <a:srgbClr val="3B4466"/>
                    </a:solidFill>
                    <a:latin typeface="Arial"/>
                  </a:rPr>
                  <a:t>years of experience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B446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4E5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B44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3B"/>
                </a:solidFill>
                <a:latin typeface="+mn-lt"/>
              </a:defRPr>
            </a:pPr>
            <a:r>
              <a:rPr sz="1200" b="0" i="0" u="none" strike="noStrike">
                <a:solidFill>
                  <a:srgbClr val="1B1F3B"/>
                </a:solidFill>
                <a:latin typeface="+mn-lt"/>
              </a:rPr>
              <a:t>Odds of a HIGH hike per +1 SD of skill (grey = not significant)</a:t>
            </a:r>
          </a:p>
        </c:rich>
      </c:tx>
      <c:layout/>
      <c:overlay val="0"/>
    </c:title>
    <c:autoTitleDeleted val="0"/>
    <c:plotArea>
      <c:layout/>
      <c:barChart>
        <c:barDir val="bar"/>
        <c:grouping val="clustered"/>
        <c:varyColors val="0"/>
        <c:ser>
          <c:idx val="0"/>
          <c:order val="0"/>
          <c:tx>
            <c:strRef>
              <c:f>Sheet1!$B$1</c:f>
              <c:strCache>
                <c:ptCount val="1"/>
                <c:pt idx="0">
                  <c:v>Odds ratio</c:v>
                </c:pt>
              </c:strCache>
            </c:strRef>
          </c:tx>
          <c:spPr>
            <a:solidFill>
              <a:srgbClr val="2A78D6"/>
            </a:solidFill>
            <a:effectLst/>
          </c:spPr>
          <c:invertIfNegative val="0"/>
          <c:dLbls>
            <c:numFmt formatCode="&quot;×&quot;0.0" sourceLinked="0"/>
            <c:txPr>
              <a:bodyPr/>
              <a:lstStyle/>
              <a:p>
                <a:pPr>
                  <a:defRPr b="0" i="0" strike="noStrike" sz="1000" u="none">
                    <a:solidFill>
                      <a:srgbClr val="1B1F3B"/>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2A78D6"/>
              </a:solidFill>
              <a:effectLst/>
            </c:spPr>
          </c:dPt>
          <c:dPt>
            <c:idx val="2"/>
            <c:invertIfNegative val="0"/>
            <c:bubble3D val="0"/>
            <c:spPr>
              <a:solidFill>
                <a:srgbClr val="2A78D6"/>
              </a:solidFill>
              <a:effectLst/>
            </c:spPr>
          </c:dPt>
          <c:dPt>
            <c:idx val="3"/>
            <c:invertIfNegative val="0"/>
            <c:bubble3D val="0"/>
            <c:spPr>
              <a:solidFill>
                <a:srgbClr val="2A78D6"/>
              </a:solidFill>
              <a:effectLst/>
            </c:spPr>
          </c:dPt>
          <c:dPt>
            <c:idx val="4"/>
            <c:invertIfNegative val="0"/>
            <c:bubble3D val="0"/>
            <c:spPr>
              <a:solidFill>
                <a:srgbClr val="8A93A6"/>
              </a:solidFill>
              <a:effectLst/>
            </c:spPr>
          </c:dPt>
          <c:cat>
            <c:multiLvlStrRef>
              <c:f>Sheet1!$A$2:$A$6</c:f>
              <c:multiLvlStrCache>
                <c:ptCount val="5"/>
                <c:lvl>
                  <c:pt idx="0">
                    <c:v>Maths &amp; stats</c:v>
                  </c:pt>
                  <c:pt idx="1">
                    <c:v>Dashboard &amp; storytelling</c:v>
                  </c:pt>
                  <c:pt idx="2">
                    <c:v>AI &amp; ML</c:v>
                  </c:pt>
                  <c:pt idx="3">
                    <c:v>Big data</c:v>
                  </c:pt>
                  <c:pt idx="4">
                    <c:v>Coding</c:v>
                  </c:pt>
                </c:lvl>
              </c:multiLvlStrCache>
            </c:multiLvlStrRef>
          </c:cat>
          <c:val>
            <c:numRef>
              <c:f>Sheet1!$B$2:$B$6</c:f>
              <c:numCache>
                <c:formatCode>General</c:formatCode>
                <c:ptCount val="5"/>
                <c:pt idx="0">
                  <c:v>3.8</c:v>
                </c:pt>
                <c:pt idx="1">
                  <c:v>3.1</c:v>
                </c:pt>
                <c:pt idx="2">
                  <c:v>2.4</c:v>
                </c:pt>
                <c:pt idx="3">
                  <c:v>2.4</c:v>
                </c:pt>
                <c:pt idx="4">
                  <c:v>1.5</c:v>
                </c:pt>
              </c:numCache>
            </c:numRef>
          </c:val>
        </c:ser>
        <c:dLbls>
          <c:numFmt formatCode="&quot;×&quot;0.0" sourceLinked="0"/>
          <c:txPr>
            <a:bodyPr/>
            <a:lstStyle/>
            <a:p>
              <a:pPr>
                <a:defRPr b="0" i="0" strike="noStrike" sz="1000" u="none">
                  <a:solidFill>
                    <a:srgbClr val="1B1F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B4466"/>
                </a:solidFill>
                <a:latin typeface="+mn-lt"/>
              </a:defRPr>
            </a:pPr>
            <a:endParaRPr lang="en-US"/>
          </a:p>
        </c:txPr>
        <c:crossAx val="2094734552"/>
        <c:crosses val="autoZero"/>
        <c:auto val="1"/>
        <c:lblAlgn val="ctr"/>
        <c:noMultiLvlLbl val="1"/>
      </c:catAx>
      <c:valAx>
        <c:axId val="2094734552"/>
        <c:scaling>
          <c:orientation val="minMax"/>
          <c:max val="4.5"/>
          <c:min val="0"/>
        </c:scaling>
        <c:delete val="0"/>
        <c:axPos val="b"/>
        <c:majorGridlines>
          <c:spPr>
            <a:ln w="6350" cap="flat">
              <a:solidFill>
                <a:srgbClr val="E4E5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3B44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3B"/>
                </a:solidFill>
                <a:latin typeface="+mn-lt"/>
              </a:defRPr>
            </a:pPr>
            <a:r>
              <a:rPr sz="1200" b="0" i="0" u="none" strike="noStrike">
                <a:solidFill>
                  <a:srgbClr val="1B1F3B"/>
                </a:solidFill>
                <a:latin typeface="+mn-lt"/>
              </a:rPr>
              <a:t>Odds of HIGH success per +1 SD of trait (grey = not significant)</a:t>
            </a:r>
          </a:p>
        </c:rich>
      </c:tx>
      <c:layout/>
      <c:overlay val="0"/>
    </c:title>
    <c:autoTitleDeleted val="0"/>
    <c:plotArea>
      <c:layout/>
      <c:barChart>
        <c:barDir val="bar"/>
        <c:grouping val="clustered"/>
        <c:varyColors val="0"/>
        <c:ser>
          <c:idx val="0"/>
          <c:order val="0"/>
          <c:tx>
            <c:strRef>
              <c:f>Sheet1!$B$1</c:f>
              <c:strCache>
                <c:ptCount val="1"/>
                <c:pt idx="0">
                  <c:v>Odds ratio</c:v>
                </c:pt>
              </c:strCache>
            </c:strRef>
          </c:tx>
          <c:spPr>
            <a:solidFill>
              <a:srgbClr val="1BAF7A"/>
            </a:solidFill>
            <a:effectLst/>
          </c:spPr>
          <c:invertIfNegative val="0"/>
          <c:dLbls>
            <c:numFmt formatCode="&quot;×&quot;0.0" sourceLinked="0"/>
            <c:txPr>
              <a:bodyPr/>
              <a:lstStyle/>
              <a:p>
                <a:pPr>
                  <a:defRPr b="0" i="0" strike="noStrike" sz="1000" u="none">
                    <a:solidFill>
                      <a:srgbClr val="1B1F3B"/>
                    </a:solidFill>
                    <a:latin typeface="+mn-lt"/>
                  </a:defRPr>
                </a:pPr>
              </a:p>
            </c:txPr>
            <c:showLegendKey val="0"/>
            <c:showVal val="1"/>
            <c:showCatName val="0"/>
            <c:showSerName val="0"/>
            <c:showPercent val="0"/>
            <c:showBubbleSize val="0"/>
            <c:showLeaderLines val="0"/>
          </c:dLbls>
          <c:dPt>
            <c:idx val="0"/>
            <c:invertIfNegative val="0"/>
            <c:bubble3D val="0"/>
            <c:spPr>
              <a:solidFill>
                <a:srgbClr val="1BAF7A"/>
              </a:solidFill>
              <a:effectLst/>
            </c:spPr>
          </c:dPt>
          <c:dPt>
            <c:idx val="1"/>
            <c:invertIfNegative val="0"/>
            <c:bubble3D val="0"/>
            <c:spPr>
              <a:solidFill>
                <a:srgbClr val="1BAF7A"/>
              </a:solidFill>
              <a:effectLst/>
            </c:spPr>
          </c:dPt>
          <c:dPt>
            <c:idx val="2"/>
            <c:invertIfNegative val="0"/>
            <c:bubble3D val="0"/>
            <c:spPr>
              <a:solidFill>
                <a:srgbClr val="1BAF7A"/>
              </a:solidFill>
              <a:effectLst/>
            </c:spPr>
          </c:dPt>
          <c:dPt>
            <c:idx val="3"/>
            <c:invertIfNegative val="0"/>
            <c:bubble3D val="0"/>
            <c:spPr>
              <a:solidFill>
                <a:srgbClr val="1BAF7A"/>
              </a:solidFill>
              <a:effectLst/>
            </c:spPr>
          </c:dPt>
          <c:dPt>
            <c:idx val="4"/>
            <c:invertIfNegative val="0"/>
            <c:bubble3D val="0"/>
            <c:spPr>
              <a:solidFill>
                <a:srgbClr val="8A93A6"/>
              </a:solidFill>
              <a:effectLst/>
            </c:spPr>
          </c:dPt>
          <c:cat>
            <c:multiLvlStrRef>
              <c:f>Sheet1!$A$2:$A$6</c:f>
              <c:multiLvlStrCache>
                <c:ptCount val="5"/>
                <c:lvl>
                  <c:pt idx="0">
                    <c:v>Conscientiousness</c:v>
                  </c:pt>
                  <c:pt idx="1">
                    <c:v>Openness</c:v>
                  </c:pt>
                  <c:pt idx="2">
                    <c:v>Neuroticism</c:v>
                  </c:pt>
                  <c:pt idx="3">
                    <c:v>Extraversion</c:v>
                  </c:pt>
                  <c:pt idx="4">
                    <c:v>Agreeableness</c:v>
                  </c:pt>
                </c:lvl>
              </c:multiLvlStrCache>
            </c:multiLvlStrRef>
          </c:cat>
          <c:val>
            <c:numRef>
              <c:f>Sheet1!$B$2:$B$6</c:f>
              <c:numCache>
                <c:formatCode>General</c:formatCode>
                <c:ptCount val="5"/>
                <c:pt idx="0">
                  <c:v>26.5</c:v>
                </c:pt>
                <c:pt idx="1">
                  <c:v>20.8</c:v>
                </c:pt>
                <c:pt idx="2">
                  <c:v>3.9</c:v>
                </c:pt>
                <c:pt idx="3">
                  <c:v>3.9</c:v>
                </c:pt>
                <c:pt idx="4">
                  <c:v>2.5</c:v>
                </c:pt>
              </c:numCache>
            </c:numRef>
          </c:val>
        </c:ser>
        <c:dLbls>
          <c:numFmt formatCode="&quot;×&quot;0.0" sourceLinked="0"/>
          <c:txPr>
            <a:bodyPr/>
            <a:lstStyle/>
            <a:p>
              <a:pPr>
                <a:defRPr b="0" i="0" strike="noStrike" sz="1000" u="none">
                  <a:solidFill>
                    <a:srgbClr val="1B1F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B4466"/>
                </a:solidFill>
                <a:latin typeface="+mn-lt"/>
              </a:defRPr>
            </a:pPr>
            <a:endParaRPr lang="en-US"/>
          </a:p>
        </c:txPr>
        <c:crossAx val="2094734552"/>
        <c:crosses val="autoZero"/>
        <c:auto val="1"/>
        <c:lblAlgn val="ctr"/>
        <c:noMultiLvlLbl val="1"/>
      </c:catAx>
      <c:valAx>
        <c:axId val="2094734552"/>
        <c:scaling>
          <c:orientation val="minMax"/>
          <c:max val="32"/>
          <c:min val="0"/>
        </c:scaling>
        <c:delete val="0"/>
        <c:axPos val="b"/>
        <c:majorGridlines>
          <c:spPr>
            <a:ln w="6350" cap="flat">
              <a:solidFill>
                <a:srgbClr val="E4E5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3B44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team asked one simple question about data-science careers: are people paid for their skills, or for the label on their job? We used all four hackathon datasets to answer it at three stages of a career.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job carries a skill list and a label. Students are told to collect skills, but employers advertise and pay by title. We test which one actually drives reward: in the job market, in junior salary hikes, and in senior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job-market files and two people files. Twelve scripted steps take the raw files to cleaned data, five statistical studies, trained models and a dashboard. One command reruns everything in about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was messy. We removed 1,041 repeated postings, standardised 2,273 location spellings, grouped thousands of titles into seven families, and turned free-text skills into 30 columns. Every step prints a log that is in our report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Holding title, city and experience fixed, Java, business analysis and SQL each add around 18 to 23 percent, worth more than a year of experience. But big data and Spark add nothing once the title is known, and Excel and SEO carry penalties. Grey means not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core test. Model A explains pay with title, city and experience. Model B adds all 30 skills. If titles were just skills in disguise, the orange bars would collapse to zero. They don't: on average 62 percent of the premium survives, and R squared barely moves. The label itself carries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independent check in the Data Science Jobs file. At the same required experience, a Senior Data Scientist posting pays 194 percent more than a Data Analyst posting. The word Senior alone adds 14 to 36 percent. And the volume of jobs sits in the lowest-paid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Piecewise regression finds a clear break at 6.5 years: about 36 percent a year before it, 7 percent after. That early window is exactly when people move from Analyst to Scientist to Senior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company, skills do matter. Maths and statistics and dashboard storytelling roughly quadruple and triple the odds of a high hike. Coding alone is not significant. A simple tree turns it into a rule a manager can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senior customer-facing data scientists, personality separates success almost perfectly. Conscientiousness and openness dominate. One personality archetype, the driven achievers, accounts for nearly all success. Because the separation is so clean, we treat this as descriptive, not as a hiring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whether more is always better. For all five traits it is not: each has an inverted-U with a peak inside the observed range. The effect is real but modest, so the practical message is aim high, then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packaged everything into a Streamlit dashboard. The salary estimator shows the same person under different labels, which makes the title premium tangible. The hike and success simulators show which change would help most. I can demo it live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our starting beliefs were wrong. Titles are not skills in disguise, and junior hikes are not driven by coding. Experience front-loading held, and the personality story holds with an important twist: sweet spots.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conclusion in one line: skills open the door, but labels and experience set the price. In the market, the label pays. The early years are decisive. Inside the firm, capability is rewarded: maths, storytelling, and for seniors conscientiousness and openness.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students: aim for the label your skills justify and use the early years. For employers: audit title-based pay and standardise titles. For universities and SAS: weight statistics and communication as heavily as 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associations from observational data, salaries are bands, and the people samples are small and single-company. Next we would add NLP on job descriptions and employer effects, and re-run in SAS Model Studio.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1F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548640" y="2697480"/>
            <a:ext cx="8046720" cy="1097280"/>
          </a:xfrm>
          <a:prstGeom prst="rect">
            <a:avLst/>
          </a:prstGeom>
          <a:noFill/>
          <a:ln/>
        </p:spPr>
        <p:txBody>
          <a:bodyPr wrap="square" rtlCol="0"/>
          <a:lstStyle>
            <a:lvl1pPr algn="l" indent="0" marL="0">
              <a:buNone/>
              <a:defRPr lang="en-US" sz="1800" dirty="0">
                <a:solidFill>
                  <a:srgbClr val="D9DCE8"/>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400" dirty="0"/>
          </a:p>
        </p:txBody>
      </p:sp>
      <p:sp>
        <p:nvSpPr>
          <p:cNvPr id="3" name="Text 0"/>
          <p:cNvSpPr/>
          <p:nvPr/>
        </p:nvSpPr>
        <p:spPr>
          <a:xfrm>
            <a:off x="457200" y="4800600"/>
            <a:ext cx="4572000" cy="228600"/>
          </a:xfrm>
          <a:prstGeom prst="rect">
            <a:avLst/>
          </a:prstGeom>
          <a:noFill/>
          <a:ln/>
        </p:spPr>
        <p:txBody>
          <a:bodyPr wrap="square" rtlCol="0" anchor="ctr"/>
          <a:lstStyle/>
          <a:p>
            <a:pPr indent="0" marL="0">
              <a:buNone/>
            </a:pPr>
            <a:r>
              <a:rPr lang="en-US" sz="900" dirty="0">
                <a:solidFill>
                  <a:srgbClr val="8A93A6"/>
                </a:solidFill>
                <a:latin typeface="Calibri" pitchFamily="34" charset="0"/>
                <a:ea typeface="Calibri" pitchFamily="34" charset="-122"/>
                <a:cs typeface="Calibri" pitchFamily="34" charset="-120"/>
              </a:rPr>
              <a:t>Skills vs Labels · SAS CU Hackathon</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Skills vs Labels</a:t>
            </a:r>
            <a:endParaRPr lang="en-US" sz="4400" dirty="0"/>
          </a:p>
        </p:txBody>
      </p:sp>
      <p:sp>
        <p:nvSpPr>
          <p:cNvPr id="3" name="Text 0"/>
          <p:cNvSpPr/>
          <p:nvPr>
            <p:ph idx="101" type="body" hasCustomPrompt="1"/>
          </p:nvPr>
        </p:nvSpPr>
        <p:spPr>
          <a:xfrm>
            <a:off x="548640" y="2697480"/>
            <a:ext cx="8046720" cy="1097280"/>
          </a:xfrm>
          <a:prstGeom prst="rect">
            <a:avLst/>
          </a:prstGeom>
          <a:noFill/>
          <a:ln/>
        </p:spPr>
        <p:txBody>
          <a:bodyPr wrap="square" rtlCol="0" anchor="t"/>
          <a:lstStyle/>
          <a:p>
            <a:pPr algn="l" indent="0" marL="0">
              <a:buNone/>
            </a:pPr>
            <a:r>
              <a:rPr lang="en-US" sz="1800" dirty="0">
                <a:solidFill>
                  <a:srgbClr val="D9DCE8"/>
                </a:solidFill>
                <a:latin typeface="Calibri" pitchFamily="34" charset="0"/>
                <a:ea typeface="Calibri" pitchFamily="34" charset="-122"/>
                <a:cs typeface="Calibri" pitchFamily="34" charset="-120"/>
              </a:rPr>
              <a:t>Is a data professional paid for what they can do, or for what their job is called?</a:t>
            </a:r>
            <a:endParaRPr lang="en-US" sz="1800" dirty="0"/>
          </a:p>
        </p:txBody>
      </p:sp>
      <p:sp>
        <p:nvSpPr>
          <p:cNvPr id="4" name="tag SAS CU HACKATHON"/>
          <p:cNvSpPr txBox="1"/>
          <p:nvPr/>
        </p:nvSpPr>
        <p:spPr>
          <a:xfrm>
            <a:off x="548640" y="1051560"/>
            <a:ext cx="1920240" cy="292608"/>
          </a:xfrm>
          <a:prstGeom prst="roundRect">
            <a:avLst>
              <a:gd name="adj" fmla="val 37500"/>
            </a:avLst>
          </a:prstGeom>
          <a:solidFill>
            <a:schemeClr val="accent1"/>
          </a:solidFill>
          <a:ln/>
        </p:spPr>
        <p:txBody>
          <a:bodyPr wrap="square" lIns="0" tIns="0" rIns="0" bIns="0" rtlCol="0" anchor="ctr"/>
          <a:lstStyle/>
          <a:p>
            <a:pPr algn="ctr" indent="0" marL="0">
              <a:buNone/>
            </a:pPr>
            <a:r>
              <a:rPr lang="en-US" sz="1100" b="1" dirty="0">
                <a:solidFill>
                  <a:schemeClr val="bg1"/>
                </a:solidFill>
              </a:rPr>
              <a:t>SAS CU HACKATHON</a:t>
            </a:r>
            <a:endParaRPr lang="en-US" sz="1100" dirty="0"/>
          </a:p>
        </p:txBody>
      </p:sp>
      <p:sp>
        <p:nvSpPr>
          <p:cNvPr id="5" name="Text 3"/>
          <p:cNvSpPr txBox="1"/>
          <p:nvPr/>
        </p:nvSpPr>
        <p:spPr>
          <a:xfrm>
            <a:off x="548640" y="4343400"/>
            <a:ext cx="8046720" cy="320040"/>
          </a:xfrm>
          <a:prstGeom prst="rect">
            <a:avLst/>
          </a:prstGeom>
          <a:noFill/>
          <a:ln/>
        </p:spPr>
        <p:txBody>
          <a:bodyPr wrap="square" lIns="0" tIns="0" rIns="0" bIns="0" rtlCol="0" anchor="ctr"/>
          <a:lstStyle/>
          <a:p>
            <a:pPr indent="0" marL="0">
              <a:buNone/>
            </a:pPr>
            <a:r>
              <a:rPr lang="en-US" sz="1200" dirty="0">
                <a:solidFill>
                  <a:srgbClr val="B8BED3"/>
                </a:solidFill>
              </a:rPr>
              <a:t>Team AkuuJii · Japneet Kour Khanduja (24BCS12959) · [Members] · Chandigarh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2400" b="1" dirty="0">
                <a:solidFill>
                  <a:schemeClr val="tx1"/>
                </a:solidFill>
                <a:latin typeface="Cambria" pitchFamily="34" charset="0"/>
                <a:ea typeface="Cambria" pitchFamily="34" charset="-122"/>
                <a:cs typeface="Cambria" pitchFamily="34" charset="-120"/>
              </a:rPr>
              <a:t>Two signals on every job — which one sets the pay?</a:t>
            </a:r>
            <a:endParaRPr lang="en-US" sz="2400" dirty="0"/>
          </a:p>
        </p:txBody>
      </p:sp>
      <p:sp>
        <p:nvSpPr>
          <p:cNvPr id="3" name="Shape 1"/>
          <p:cNvSpPr/>
          <p:nvPr/>
        </p:nvSpPr>
        <p:spPr>
          <a:xfrm>
            <a:off x="457200" y="1143000"/>
            <a:ext cx="3931920" cy="2423160"/>
          </a:xfrm>
          <a:prstGeom prst="roundRect">
            <a:avLst>
              <a:gd name="adj" fmla="val 3019"/>
            </a:avLst>
          </a:prstGeom>
          <a:solidFill>
            <a:schemeClr val="bg2"/>
          </a:solidFill>
          <a:ln w="12700">
            <a:solidFill>
              <a:schemeClr val="bg2"/>
            </a:solidFill>
            <a:prstDash val="solid"/>
          </a:ln>
        </p:spPr>
      </p:sp>
      <p:sp>
        <p:nvSpPr>
          <p:cNvPr id="4" name="Shape 2"/>
          <p:cNvSpPr/>
          <p:nvPr/>
        </p:nvSpPr>
        <p:spPr>
          <a:xfrm>
            <a:off x="4754880" y="1143000"/>
            <a:ext cx="3931920" cy="2423160"/>
          </a:xfrm>
          <a:prstGeom prst="roundRect">
            <a:avLst>
              <a:gd name="adj" fmla="val 3019"/>
            </a:avLst>
          </a:prstGeom>
          <a:solidFill>
            <a:srgbClr val="FDEEE8"/>
          </a:solidFill>
          <a:ln w="12700">
            <a:solidFill>
              <a:srgbClr val="FDEEE8"/>
            </a:solidFill>
            <a:prstDash val="solid"/>
          </a:ln>
        </p:spPr>
      </p:sp>
      <p:sp>
        <p:nvSpPr>
          <p:cNvPr id="5" name="Text 3"/>
          <p:cNvSpPr txBox="1"/>
          <p:nvPr/>
        </p:nvSpPr>
        <p:spPr>
          <a:xfrm>
            <a:off x="685800" y="1280160"/>
            <a:ext cx="3474720" cy="365760"/>
          </a:xfrm>
          <a:prstGeom prst="rect">
            <a:avLst/>
          </a:prstGeom>
          <a:noFill/>
          <a:ln/>
        </p:spPr>
        <p:txBody>
          <a:bodyPr wrap="square" lIns="0" tIns="0" rIns="0" bIns="0" rtlCol="0" anchor="ctr"/>
          <a:lstStyle/>
          <a:p>
            <a:pPr indent="0" marL="0">
              <a:buNone/>
            </a:pPr>
            <a:r>
              <a:rPr lang="en-US" sz="1800" b="1" dirty="0">
                <a:solidFill>
                  <a:schemeClr val="accent2"/>
                </a:solidFill>
              </a:rPr>
              <a:t>SKILLS</a:t>
            </a:r>
            <a:endParaRPr lang="en-US" sz="1800" dirty="0"/>
          </a:p>
        </p:txBody>
      </p:sp>
      <p:sp>
        <p:nvSpPr>
          <p:cNvPr id="6" name="Text 4"/>
          <p:cNvSpPr txBox="1"/>
          <p:nvPr/>
        </p:nvSpPr>
        <p:spPr>
          <a:xfrm>
            <a:off x="685800" y="1645920"/>
            <a:ext cx="3474720" cy="274320"/>
          </a:xfrm>
          <a:prstGeom prst="rect">
            <a:avLst/>
          </a:prstGeom>
          <a:noFill/>
          <a:ln/>
        </p:spPr>
        <p:txBody>
          <a:bodyPr wrap="square" lIns="0" tIns="0" rIns="0" bIns="0" rtlCol="0" anchor="ctr"/>
          <a:lstStyle/>
          <a:p>
            <a:pPr indent="0" marL="0">
              <a:buNone/>
            </a:pPr>
            <a:r>
              <a:rPr lang="en-US" sz="1300" i="1" dirty="0">
                <a:solidFill>
                  <a:schemeClr val="tx2"/>
                </a:solidFill>
              </a:rPr>
              <a:t>What you can do</a:t>
            </a:r>
            <a:endParaRPr lang="en-US" sz="1300" dirty="0"/>
          </a:p>
        </p:txBody>
      </p:sp>
      <p:sp>
        <p:nvSpPr>
          <p:cNvPr id="7" name="tag Python"/>
          <p:cNvSpPr txBox="1"/>
          <p:nvPr/>
        </p:nvSpPr>
        <p:spPr>
          <a:xfrm>
            <a:off x="685800" y="2103120"/>
            <a:ext cx="1143000" cy="292608"/>
          </a:xfrm>
          <a:prstGeom prst="roundRect">
            <a:avLst>
              <a:gd name="adj" fmla="val 37500"/>
            </a:avLst>
          </a:prstGeom>
          <a:solidFill>
            <a:schemeClr val="accent2"/>
          </a:solidFill>
          <a:ln/>
        </p:spPr>
        <p:txBody>
          <a:bodyPr wrap="square" lIns="0" tIns="0" rIns="0" bIns="0" rtlCol="0" anchor="ctr"/>
          <a:lstStyle/>
          <a:p>
            <a:pPr algn="ctr" indent="0" marL="0">
              <a:buNone/>
            </a:pPr>
            <a:r>
              <a:rPr lang="en-US" sz="1100" b="1" dirty="0">
                <a:solidFill>
                  <a:schemeClr val="bg1"/>
                </a:solidFill>
              </a:rPr>
              <a:t>Python</a:t>
            </a:r>
            <a:endParaRPr lang="en-US" sz="1100" dirty="0"/>
          </a:p>
        </p:txBody>
      </p:sp>
      <p:sp>
        <p:nvSpPr>
          <p:cNvPr id="8" name="tag SQL"/>
          <p:cNvSpPr txBox="1"/>
          <p:nvPr/>
        </p:nvSpPr>
        <p:spPr>
          <a:xfrm>
            <a:off x="1874520" y="2103120"/>
            <a:ext cx="1143000" cy="292608"/>
          </a:xfrm>
          <a:prstGeom prst="roundRect">
            <a:avLst>
              <a:gd name="adj" fmla="val 37500"/>
            </a:avLst>
          </a:prstGeom>
          <a:solidFill>
            <a:schemeClr val="accent2"/>
          </a:solidFill>
          <a:ln/>
        </p:spPr>
        <p:txBody>
          <a:bodyPr wrap="square" lIns="0" tIns="0" rIns="0" bIns="0" rtlCol="0" anchor="ctr"/>
          <a:lstStyle/>
          <a:p>
            <a:pPr algn="ctr" indent="0" marL="0">
              <a:buNone/>
            </a:pPr>
            <a:r>
              <a:rPr lang="en-US" sz="1100" b="1" dirty="0">
                <a:solidFill>
                  <a:schemeClr val="bg1"/>
                </a:solidFill>
              </a:rPr>
              <a:t>SQL</a:t>
            </a:r>
            <a:endParaRPr lang="en-US" sz="1100" dirty="0"/>
          </a:p>
        </p:txBody>
      </p:sp>
      <p:sp>
        <p:nvSpPr>
          <p:cNvPr id="9" name="tag Machine learning"/>
          <p:cNvSpPr txBox="1"/>
          <p:nvPr/>
        </p:nvSpPr>
        <p:spPr>
          <a:xfrm>
            <a:off x="3063240" y="2103120"/>
            <a:ext cx="1143000" cy="292608"/>
          </a:xfrm>
          <a:prstGeom prst="roundRect">
            <a:avLst>
              <a:gd name="adj" fmla="val 37500"/>
            </a:avLst>
          </a:prstGeom>
          <a:solidFill>
            <a:schemeClr val="accent2"/>
          </a:solidFill>
          <a:ln/>
        </p:spPr>
        <p:txBody>
          <a:bodyPr wrap="square" lIns="0" tIns="0" rIns="0" bIns="0" rtlCol="0" anchor="ctr"/>
          <a:lstStyle/>
          <a:p>
            <a:pPr algn="ctr" indent="0" marL="0">
              <a:buNone/>
            </a:pPr>
            <a:r>
              <a:rPr lang="en-US" sz="1100" b="1" dirty="0">
                <a:solidFill>
                  <a:schemeClr val="bg1"/>
                </a:solidFill>
              </a:rPr>
              <a:t>Machine learning</a:t>
            </a:r>
            <a:endParaRPr lang="en-US" sz="1100" dirty="0"/>
          </a:p>
        </p:txBody>
      </p:sp>
      <p:sp>
        <p:nvSpPr>
          <p:cNvPr id="10" name="tag Statistics"/>
          <p:cNvSpPr txBox="1"/>
          <p:nvPr/>
        </p:nvSpPr>
        <p:spPr>
          <a:xfrm>
            <a:off x="685800" y="2514600"/>
            <a:ext cx="1143000" cy="292608"/>
          </a:xfrm>
          <a:prstGeom prst="roundRect">
            <a:avLst>
              <a:gd name="adj" fmla="val 37500"/>
            </a:avLst>
          </a:prstGeom>
          <a:solidFill>
            <a:schemeClr val="accent2"/>
          </a:solidFill>
          <a:ln/>
        </p:spPr>
        <p:txBody>
          <a:bodyPr wrap="square" lIns="0" tIns="0" rIns="0" bIns="0" rtlCol="0" anchor="ctr"/>
          <a:lstStyle/>
          <a:p>
            <a:pPr algn="ctr" indent="0" marL="0">
              <a:buNone/>
            </a:pPr>
            <a:r>
              <a:rPr lang="en-US" sz="1100" b="1" dirty="0">
                <a:solidFill>
                  <a:schemeClr val="bg1"/>
                </a:solidFill>
              </a:rPr>
              <a:t>Statistics</a:t>
            </a:r>
            <a:endParaRPr lang="en-US" sz="1100" dirty="0"/>
          </a:p>
        </p:txBody>
      </p:sp>
      <p:sp>
        <p:nvSpPr>
          <p:cNvPr id="11" name="tag Storytelling"/>
          <p:cNvSpPr txBox="1"/>
          <p:nvPr/>
        </p:nvSpPr>
        <p:spPr>
          <a:xfrm>
            <a:off x="1874520" y="2514600"/>
            <a:ext cx="1143000" cy="292608"/>
          </a:xfrm>
          <a:prstGeom prst="roundRect">
            <a:avLst>
              <a:gd name="adj" fmla="val 37500"/>
            </a:avLst>
          </a:prstGeom>
          <a:solidFill>
            <a:schemeClr val="accent2"/>
          </a:solidFill>
          <a:ln/>
        </p:spPr>
        <p:txBody>
          <a:bodyPr wrap="square" lIns="0" tIns="0" rIns="0" bIns="0" rtlCol="0" anchor="ctr"/>
          <a:lstStyle/>
          <a:p>
            <a:pPr algn="ctr" indent="0" marL="0">
              <a:buNone/>
            </a:pPr>
            <a:r>
              <a:rPr lang="en-US" sz="1100" b="1" dirty="0">
                <a:solidFill>
                  <a:schemeClr val="bg1"/>
                </a:solidFill>
              </a:rPr>
              <a:t>Storytelling</a:t>
            </a:r>
            <a:endParaRPr lang="en-US" sz="1100" dirty="0"/>
          </a:p>
        </p:txBody>
      </p:sp>
      <p:sp>
        <p:nvSpPr>
          <p:cNvPr id="12" name="Text 10"/>
          <p:cNvSpPr txBox="1"/>
          <p:nvPr/>
        </p:nvSpPr>
        <p:spPr>
          <a:xfrm>
            <a:off x="4983480" y="1280160"/>
            <a:ext cx="3474720" cy="365760"/>
          </a:xfrm>
          <a:prstGeom prst="rect">
            <a:avLst/>
          </a:prstGeom>
          <a:noFill/>
          <a:ln/>
        </p:spPr>
        <p:txBody>
          <a:bodyPr wrap="square" lIns="0" tIns="0" rIns="0" bIns="0" rtlCol="0" anchor="ctr"/>
          <a:lstStyle/>
          <a:p>
            <a:pPr indent="0" marL="0">
              <a:buNone/>
            </a:pPr>
            <a:r>
              <a:rPr lang="en-US" sz="1800" b="1" dirty="0">
                <a:solidFill>
                  <a:schemeClr val="accent1"/>
                </a:solidFill>
              </a:rPr>
              <a:t>LABELS</a:t>
            </a:r>
            <a:endParaRPr lang="en-US" sz="1800" dirty="0"/>
          </a:p>
        </p:txBody>
      </p:sp>
      <p:sp>
        <p:nvSpPr>
          <p:cNvPr id="13" name="Text 11"/>
          <p:cNvSpPr txBox="1"/>
          <p:nvPr/>
        </p:nvSpPr>
        <p:spPr>
          <a:xfrm>
            <a:off x="4983480" y="1645920"/>
            <a:ext cx="3474720" cy="274320"/>
          </a:xfrm>
          <a:prstGeom prst="rect">
            <a:avLst/>
          </a:prstGeom>
          <a:noFill/>
          <a:ln/>
        </p:spPr>
        <p:txBody>
          <a:bodyPr wrap="square" lIns="0" tIns="0" rIns="0" bIns="0" rtlCol="0" anchor="ctr"/>
          <a:lstStyle/>
          <a:p>
            <a:pPr indent="0" marL="0">
              <a:buNone/>
            </a:pPr>
            <a:r>
              <a:rPr lang="en-US" sz="1300" i="1" dirty="0">
                <a:solidFill>
                  <a:schemeClr val="tx2"/>
                </a:solidFill>
              </a:rPr>
              <a:t>What your job is called</a:t>
            </a:r>
            <a:endParaRPr lang="en-US" sz="1300" dirty="0"/>
          </a:p>
        </p:txBody>
      </p:sp>
      <p:sp>
        <p:nvSpPr>
          <p:cNvPr id="14" name="tag Data Analyst"/>
          <p:cNvSpPr txBox="1"/>
          <p:nvPr/>
        </p:nvSpPr>
        <p:spPr>
          <a:xfrm>
            <a:off x="4983480" y="2103120"/>
            <a:ext cx="1143000" cy="292608"/>
          </a:xfrm>
          <a:prstGeom prst="roundRect">
            <a:avLst>
              <a:gd name="adj" fmla="val 37500"/>
            </a:avLst>
          </a:prstGeom>
          <a:solidFill>
            <a:schemeClr val="accent1"/>
          </a:solidFill>
          <a:ln/>
        </p:spPr>
        <p:txBody>
          <a:bodyPr wrap="square" lIns="0" tIns="0" rIns="0" bIns="0" rtlCol="0" anchor="ctr"/>
          <a:lstStyle/>
          <a:p>
            <a:pPr algn="ctr" indent="0" marL="0">
              <a:buNone/>
            </a:pPr>
            <a:r>
              <a:rPr lang="en-US" sz="1100" b="1" dirty="0">
                <a:solidFill>
                  <a:schemeClr val="bg1"/>
                </a:solidFill>
              </a:rPr>
              <a:t>Data Analyst</a:t>
            </a:r>
            <a:endParaRPr lang="en-US" sz="1100" dirty="0"/>
          </a:p>
        </p:txBody>
      </p:sp>
      <p:sp>
        <p:nvSpPr>
          <p:cNvPr id="15" name="tag Data Scientist"/>
          <p:cNvSpPr txBox="1"/>
          <p:nvPr/>
        </p:nvSpPr>
        <p:spPr>
          <a:xfrm>
            <a:off x="6172200" y="2103120"/>
            <a:ext cx="1143000" cy="292608"/>
          </a:xfrm>
          <a:prstGeom prst="roundRect">
            <a:avLst>
              <a:gd name="adj" fmla="val 37500"/>
            </a:avLst>
          </a:prstGeom>
          <a:solidFill>
            <a:schemeClr val="accent1"/>
          </a:solidFill>
          <a:ln/>
        </p:spPr>
        <p:txBody>
          <a:bodyPr wrap="square" lIns="0" tIns="0" rIns="0" bIns="0" rtlCol="0" anchor="ctr"/>
          <a:lstStyle/>
          <a:p>
            <a:pPr algn="ctr" indent="0" marL="0">
              <a:buNone/>
            </a:pPr>
            <a:r>
              <a:rPr lang="en-US" sz="1100" b="1" dirty="0">
                <a:solidFill>
                  <a:schemeClr val="bg1"/>
                </a:solidFill>
              </a:rPr>
              <a:t>Data Scientist</a:t>
            </a:r>
            <a:endParaRPr lang="en-US" sz="1100" dirty="0"/>
          </a:p>
        </p:txBody>
      </p:sp>
      <p:sp>
        <p:nvSpPr>
          <p:cNvPr id="16" name="tag ML Engineer"/>
          <p:cNvSpPr txBox="1"/>
          <p:nvPr/>
        </p:nvSpPr>
        <p:spPr>
          <a:xfrm>
            <a:off x="7360920" y="2103120"/>
            <a:ext cx="1143000" cy="292608"/>
          </a:xfrm>
          <a:prstGeom prst="roundRect">
            <a:avLst>
              <a:gd name="adj" fmla="val 37500"/>
            </a:avLst>
          </a:prstGeom>
          <a:solidFill>
            <a:schemeClr val="accent1"/>
          </a:solidFill>
          <a:ln/>
        </p:spPr>
        <p:txBody>
          <a:bodyPr wrap="square" lIns="0" tIns="0" rIns="0" bIns="0" rtlCol="0" anchor="ctr"/>
          <a:lstStyle/>
          <a:p>
            <a:pPr algn="ctr" indent="0" marL="0">
              <a:buNone/>
            </a:pPr>
            <a:r>
              <a:rPr lang="en-US" sz="1100" b="1" dirty="0">
                <a:solidFill>
                  <a:schemeClr val="bg1"/>
                </a:solidFill>
              </a:rPr>
              <a:t>ML Engineer</a:t>
            </a:r>
            <a:endParaRPr lang="en-US" sz="1100" dirty="0"/>
          </a:p>
        </p:txBody>
      </p:sp>
      <p:sp>
        <p:nvSpPr>
          <p:cNvPr id="17" name="tag Senior …"/>
          <p:cNvSpPr txBox="1"/>
          <p:nvPr/>
        </p:nvSpPr>
        <p:spPr>
          <a:xfrm>
            <a:off x="4983480" y="2514600"/>
            <a:ext cx="1143000" cy="292608"/>
          </a:xfrm>
          <a:prstGeom prst="roundRect">
            <a:avLst>
              <a:gd name="adj" fmla="val 37500"/>
            </a:avLst>
          </a:prstGeom>
          <a:solidFill>
            <a:schemeClr val="accent1"/>
          </a:solidFill>
          <a:ln/>
        </p:spPr>
        <p:txBody>
          <a:bodyPr wrap="square" lIns="0" tIns="0" rIns="0" bIns="0" rtlCol="0" anchor="ctr"/>
          <a:lstStyle/>
          <a:p>
            <a:pPr algn="ctr" indent="0" marL="0">
              <a:buNone/>
            </a:pPr>
            <a:r>
              <a:rPr lang="en-US" sz="1100" b="1" dirty="0">
                <a:solidFill>
                  <a:schemeClr val="bg1"/>
                </a:solidFill>
              </a:rPr>
              <a:t>Senior …</a:t>
            </a:r>
            <a:endParaRPr lang="en-US" sz="1100" dirty="0"/>
          </a:p>
        </p:txBody>
      </p:sp>
      <p:sp>
        <p:nvSpPr>
          <p:cNvPr id="18" name="tag Manager"/>
          <p:cNvSpPr txBox="1"/>
          <p:nvPr/>
        </p:nvSpPr>
        <p:spPr>
          <a:xfrm>
            <a:off x="6172200" y="2514600"/>
            <a:ext cx="1143000" cy="292608"/>
          </a:xfrm>
          <a:prstGeom prst="roundRect">
            <a:avLst>
              <a:gd name="adj" fmla="val 37500"/>
            </a:avLst>
          </a:prstGeom>
          <a:solidFill>
            <a:schemeClr val="accent1"/>
          </a:solidFill>
          <a:ln/>
        </p:spPr>
        <p:txBody>
          <a:bodyPr wrap="square" lIns="0" tIns="0" rIns="0" bIns="0" rtlCol="0" anchor="ctr"/>
          <a:lstStyle/>
          <a:p>
            <a:pPr algn="ctr" indent="0" marL="0">
              <a:buNone/>
            </a:pPr>
            <a:r>
              <a:rPr lang="en-US" sz="1100" b="1" dirty="0">
                <a:solidFill>
                  <a:schemeClr val="bg1"/>
                </a:solidFill>
              </a:rPr>
              <a:t>Manager</a:t>
            </a:r>
            <a:endParaRPr lang="en-US" sz="1100" dirty="0"/>
          </a:p>
        </p:txBody>
      </p:sp>
      <p:sp>
        <p:nvSpPr>
          <p:cNvPr id="19" name="Text 17"/>
          <p:cNvSpPr txBox="1"/>
          <p:nvPr/>
        </p:nvSpPr>
        <p:spPr>
          <a:xfrm>
            <a:off x="457200" y="3840480"/>
            <a:ext cx="8229600" cy="548640"/>
          </a:xfrm>
          <a:prstGeom prst="rect">
            <a:avLst/>
          </a:prstGeom>
          <a:noFill/>
          <a:ln/>
        </p:spPr>
        <p:txBody>
          <a:bodyPr wrap="square" lIns="0" tIns="0" rIns="0" bIns="0" rtlCol="0" anchor="ctr"/>
          <a:lstStyle/>
          <a:p>
            <a:pPr indent="0" marL="0">
              <a:buNone/>
            </a:pPr>
            <a:r>
              <a:rPr lang="en-US" sz="1500" dirty="0">
                <a:solidFill>
                  <a:schemeClr val="tx1"/>
                </a:solidFill>
              </a:rPr>
              <a:t>Five questions across the career: the market (Q1–Q3), the junior pay review (Q4) and senior success (Q5).</a:t>
            </a:r>
            <a:endParaRPr lang="en-US" sz="15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2400" b="1" dirty="0">
                <a:solidFill>
                  <a:schemeClr val="tx1"/>
                </a:solidFill>
                <a:latin typeface="Cambria" pitchFamily="34" charset="0"/>
                <a:ea typeface="Cambria" pitchFamily="34" charset="-122"/>
                <a:cs typeface="Cambria" pitchFamily="34" charset="-120"/>
              </a:rPr>
              <a:t>Four datasets, one reproducible pipeline</a:t>
            </a:r>
            <a:endParaRPr lang="en-US" sz="2400" dirty="0"/>
          </a:p>
        </p:txBody>
      </p:sp>
      <p:sp>
        <p:nvSpPr>
          <p:cNvPr id="3" name="Text 1"/>
          <p:cNvSpPr txBox="1"/>
          <p:nvPr/>
        </p:nvSpPr>
        <p:spPr>
          <a:xfrm>
            <a:off x="457200" y="1097280"/>
            <a:ext cx="192024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14,800</a:t>
            </a:r>
            <a:endParaRPr lang="en-US" sz="4000" dirty="0"/>
          </a:p>
        </p:txBody>
      </p:sp>
      <p:sp>
        <p:nvSpPr>
          <p:cNvPr id="4" name="Text 2"/>
          <p:cNvSpPr txBox="1"/>
          <p:nvPr/>
        </p:nvSpPr>
        <p:spPr>
          <a:xfrm>
            <a:off x="457200" y="1783080"/>
            <a:ext cx="1920240" cy="548640"/>
          </a:xfrm>
          <a:prstGeom prst="rect">
            <a:avLst/>
          </a:prstGeom>
          <a:noFill/>
          <a:ln/>
        </p:spPr>
        <p:txBody>
          <a:bodyPr wrap="square" lIns="0" tIns="0" rIns="0" bIns="0" rtlCol="0" anchor="t"/>
          <a:lstStyle/>
          <a:p>
            <a:pPr indent="0" marL="0">
              <a:buNone/>
            </a:pPr>
            <a:r>
              <a:rPr lang="en-US" sz="1200" dirty="0">
                <a:solidFill>
                  <a:schemeClr val="tx2"/>
                </a:solidFill>
              </a:rPr>
              <a:t>analytics job postings (after cleaning)</a:t>
            </a:r>
            <a:endParaRPr lang="en-US" sz="1200" dirty="0"/>
          </a:p>
        </p:txBody>
      </p:sp>
      <p:sp>
        <p:nvSpPr>
          <p:cNvPr id="5" name="Text 3"/>
          <p:cNvSpPr txBox="1"/>
          <p:nvPr/>
        </p:nvSpPr>
        <p:spPr>
          <a:xfrm>
            <a:off x="2560320" y="1097280"/>
            <a:ext cx="192024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1,597</a:t>
            </a:r>
            <a:endParaRPr lang="en-US" sz="4000" dirty="0"/>
          </a:p>
        </p:txBody>
      </p:sp>
      <p:sp>
        <p:nvSpPr>
          <p:cNvPr id="6" name="Text 4"/>
          <p:cNvSpPr txBox="1"/>
          <p:nvPr/>
        </p:nvSpPr>
        <p:spPr>
          <a:xfrm>
            <a:off x="2560320" y="1783080"/>
            <a:ext cx="1920240" cy="548640"/>
          </a:xfrm>
          <a:prstGeom prst="rect">
            <a:avLst/>
          </a:prstGeom>
          <a:noFill/>
          <a:ln/>
        </p:spPr>
        <p:txBody>
          <a:bodyPr wrap="square" lIns="0" tIns="0" rIns="0" bIns="0" rtlCol="0" anchor="t"/>
          <a:lstStyle/>
          <a:p>
            <a:pPr indent="0" marL="0">
              <a:buNone/>
            </a:pPr>
            <a:r>
              <a:rPr lang="en-US" sz="1200" dirty="0">
                <a:solidFill>
                  <a:schemeClr val="tx2"/>
                </a:solidFill>
              </a:rPr>
              <a:t>data-science job rows, 608 companies</a:t>
            </a:r>
            <a:endParaRPr lang="en-US" sz="1200" dirty="0"/>
          </a:p>
        </p:txBody>
      </p:sp>
      <p:sp>
        <p:nvSpPr>
          <p:cNvPr id="7" name="Text 5"/>
          <p:cNvSpPr txBox="1"/>
          <p:nvPr/>
        </p:nvSpPr>
        <p:spPr>
          <a:xfrm>
            <a:off x="4663440" y="1097280"/>
            <a:ext cx="192024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118</a:t>
            </a:r>
            <a:endParaRPr lang="en-US" sz="4000" dirty="0"/>
          </a:p>
        </p:txBody>
      </p:sp>
      <p:sp>
        <p:nvSpPr>
          <p:cNvPr id="8" name="Text 6"/>
          <p:cNvSpPr txBox="1"/>
          <p:nvPr/>
        </p:nvSpPr>
        <p:spPr>
          <a:xfrm>
            <a:off x="4663440" y="1783080"/>
            <a:ext cx="1920240" cy="548640"/>
          </a:xfrm>
          <a:prstGeom prst="rect">
            <a:avLst/>
          </a:prstGeom>
          <a:noFill/>
          <a:ln/>
        </p:spPr>
        <p:txBody>
          <a:bodyPr wrap="square" lIns="0" tIns="0" rIns="0" bIns="0" rtlCol="0" anchor="t"/>
          <a:lstStyle/>
          <a:p>
            <a:pPr indent="0" marL="0">
              <a:buNone/>
            </a:pPr>
            <a:r>
              <a:rPr lang="en-US" sz="1200" dirty="0">
                <a:solidFill>
                  <a:schemeClr val="tx2"/>
                </a:solidFill>
              </a:rPr>
              <a:t>junior data scientists, 5 skill scores</a:t>
            </a:r>
            <a:endParaRPr lang="en-US" sz="1200" dirty="0"/>
          </a:p>
        </p:txBody>
      </p:sp>
      <p:sp>
        <p:nvSpPr>
          <p:cNvPr id="9" name="Text 7"/>
          <p:cNvSpPr txBox="1"/>
          <p:nvPr/>
        </p:nvSpPr>
        <p:spPr>
          <a:xfrm>
            <a:off x="6766560" y="1097280"/>
            <a:ext cx="192024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161</a:t>
            </a:r>
            <a:endParaRPr lang="en-US" sz="4000" dirty="0"/>
          </a:p>
        </p:txBody>
      </p:sp>
      <p:sp>
        <p:nvSpPr>
          <p:cNvPr id="10" name="Text 8"/>
          <p:cNvSpPr txBox="1"/>
          <p:nvPr/>
        </p:nvSpPr>
        <p:spPr>
          <a:xfrm>
            <a:off x="6766560" y="1783080"/>
            <a:ext cx="1920240" cy="548640"/>
          </a:xfrm>
          <a:prstGeom prst="rect">
            <a:avLst/>
          </a:prstGeom>
          <a:noFill/>
          <a:ln/>
        </p:spPr>
        <p:txBody>
          <a:bodyPr wrap="square" lIns="0" tIns="0" rIns="0" bIns="0" rtlCol="0" anchor="t"/>
          <a:lstStyle/>
          <a:p>
            <a:pPr indent="0" marL="0">
              <a:buNone/>
            </a:pPr>
            <a:r>
              <a:rPr lang="en-US" sz="1200" dirty="0">
                <a:solidFill>
                  <a:schemeClr val="tx2"/>
                </a:solidFill>
              </a:rPr>
              <a:t>senior data scientists, Big-Five traits</a:t>
            </a:r>
            <a:endParaRPr lang="en-US" sz="1200" dirty="0"/>
          </a:p>
        </p:txBody>
      </p:sp>
      <p:pic>
        <p:nvPicPr>
          <p:cNvPr id="11" name="Image 0" descr="/home/claude/svl/figures/report/f01_workflow.png">    </p:cNvPr>
          <p:cNvPicPr>
            <a:picLocks noChangeAspect="1"/>
          </p:cNvPicPr>
          <p:nvPr/>
        </p:nvPicPr>
        <p:blipFill>
          <a:blip r:embed="rId1"/>
          <a:stretch>
            <a:fillRect/>
          </a:stretch>
        </p:blipFill>
        <p:spPr>
          <a:xfrm>
            <a:off x="2238654" y="2377440"/>
            <a:ext cx="4666692" cy="2331720"/>
          </a:xfrm>
          <a:prstGeom prst="rect">
            <a:avLst/>
          </a:prstGeom>
        </p:spPr>
      </p:pic>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2400" b="1" dirty="0">
                <a:solidFill>
                  <a:schemeClr val="tx1"/>
                </a:solidFill>
                <a:latin typeface="Cambria" pitchFamily="34" charset="0"/>
                <a:ea typeface="Cambria" pitchFamily="34" charset="-122"/>
                <a:cs typeface="Cambria" pitchFamily="34" charset="-120"/>
              </a:rPr>
              <a:t>Cleaning: every fix counted and justified</a:t>
            </a:r>
            <a:endParaRPr lang="en-US" sz="2400" dirty="0"/>
          </a:p>
        </p:txBody>
      </p:sp>
      <p:sp>
        <p:nvSpPr>
          <p:cNvPr id="3" name="Shape 1"/>
          <p:cNvSpPr/>
          <p:nvPr/>
        </p:nvSpPr>
        <p:spPr>
          <a:xfrm>
            <a:off x="457200" y="1143000"/>
            <a:ext cx="2606040" cy="1234440"/>
          </a:xfrm>
          <a:prstGeom prst="roundRect">
            <a:avLst>
              <a:gd name="adj" fmla="val 5926"/>
            </a:avLst>
          </a:prstGeom>
          <a:solidFill>
            <a:schemeClr val="bg2"/>
          </a:solidFill>
          <a:ln w="12700">
            <a:solidFill>
              <a:schemeClr val="bg2"/>
            </a:solidFill>
            <a:prstDash val="solid"/>
          </a:ln>
        </p:spPr>
      </p:sp>
      <p:sp>
        <p:nvSpPr>
          <p:cNvPr id="4" name="Text 2"/>
          <p:cNvSpPr txBox="1"/>
          <p:nvPr/>
        </p:nvSpPr>
        <p:spPr>
          <a:xfrm>
            <a:off x="640080" y="1252728"/>
            <a:ext cx="2286000" cy="5943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1,041</a:t>
            </a:r>
            <a:endParaRPr lang="en-US" sz="3200" dirty="0"/>
          </a:p>
        </p:txBody>
      </p:sp>
      <p:sp>
        <p:nvSpPr>
          <p:cNvPr id="5" name="Text 3"/>
          <p:cNvSpPr txBox="1"/>
          <p:nvPr/>
        </p:nvSpPr>
        <p:spPr>
          <a:xfrm>
            <a:off x="640080" y="1856232"/>
            <a:ext cx="2286000" cy="411480"/>
          </a:xfrm>
          <a:prstGeom prst="rect">
            <a:avLst/>
          </a:prstGeom>
          <a:noFill/>
          <a:ln/>
        </p:spPr>
        <p:txBody>
          <a:bodyPr wrap="square" lIns="0" tIns="0" rIns="0" bIns="0" rtlCol="0" anchor="ctr"/>
          <a:lstStyle/>
          <a:p>
            <a:pPr indent="0" marL="0">
              <a:buNone/>
            </a:pPr>
            <a:r>
              <a:rPr lang="en-US" sz="1300" dirty="0">
                <a:solidFill>
                  <a:schemeClr val="tx1"/>
                </a:solidFill>
              </a:rPr>
              <a:t>duplicate postings removed</a:t>
            </a:r>
            <a:endParaRPr lang="en-US" sz="1300" dirty="0"/>
          </a:p>
        </p:txBody>
      </p:sp>
      <p:sp>
        <p:nvSpPr>
          <p:cNvPr id="6" name="Shape 4"/>
          <p:cNvSpPr/>
          <p:nvPr/>
        </p:nvSpPr>
        <p:spPr>
          <a:xfrm>
            <a:off x="3246120" y="1143000"/>
            <a:ext cx="2606040" cy="1234440"/>
          </a:xfrm>
          <a:prstGeom prst="roundRect">
            <a:avLst>
              <a:gd name="adj" fmla="val 5926"/>
            </a:avLst>
          </a:prstGeom>
          <a:solidFill>
            <a:schemeClr val="bg2"/>
          </a:solidFill>
          <a:ln w="12700">
            <a:solidFill>
              <a:schemeClr val="bg2"/>
            </a:solidFill>
            <a:prstDash val="solid"/>
          </a:ln>
        </p:spPr>
      </p:sp>
      <p:sp>
        <p:nvSpPr>
          <p:cNvPr id="7" name="Text 5"/>
          <p:cNvSpPr txBox="1"/>
          <p:nvPr/>
        </p:nvSpPr>
        <p:spPr>
          <a:xfrm>
            <a:off x="3429000" y="1252728"/>
            <a:ext cx="2286000" cy="5943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2,273</a:t>
            </a:r>
            <a:endParaRPr lang="en-US" sz="3200" dirty="0"/>
          </a:p>
        </p:txBody>
      </p:sp>
      <p:sp>
        <p:nvSpPr>
          <p:cNvPr id="8" name="Text 6"/>
          <p:cNvSpPr txBox="1"/>
          <p:nvPr/>
        </p:nvSpPr>
        <p:spPr>
          <a:xfrm>
            <a:off x="3429000" y="1856232"/>
            <a:ext cx="2286000" cy="411480"/>
          </a:xfrm>
          <a:prstGeom prst="rect">
            <a:avLst/>
          </a:prstGeom>
          <a:noFill/>
          <a:ln/>
        </p:spPr>
        <p:txBody>
          <a:bodyPr wrap="square" lIns="0" tIns="0" rIns="0" bIns="0" rtlCol="0" anchor="ctr"/>
          <a:lstStyle/>
          <a:p>
            <a:pPr indent="0" marL="0">
              <a:buNone/>
            </a:pPr>
            <a:r>
              <a:rPr lang="en-US" sz="1300" dirty="0">
                <a:solidFill>
                  <a:schemeClr val="tx1"/>
                </a:solidFill>
              </a:rPr>
              <a:t>location spellings standardised</a:t>
            </a:r>
            <a:endParaRPr lang="en-US" sz="1300" dirty="0"/>
          </a:p>
        </p:txBody>
      </p:sp>
      <p:sp>
        <p:nvSpPr>
          <p:cNvPr id="9" name="Shape 7"/>
          <p:cNvSpPr/>
          <p:nvPr/>
        </p:nvSpPr>
        <p:spPr>
          <a:xfrm>
            <a:off x="6035040" y="1143000"/>
            <a:ext cx="2606040" cy="1234440"/>
          </a:xfrm>
          <a:prstGeom prst="roundRect">
            <a:avLst>
              <a:gd name="adj" fmla="val 5926"/>
            </a:avLst>
          </a:prstGeom>
          <a:solidFill>
            <a:schemeClr val="bg2"/>
          </a:solidFill>
          <a:ln w="12700">
            <a:solidFill>
              <a:schemeClr val="bg2"/>
            </a:solidFill>
            <a:prstDash val="solid"/>
          </a:ln>
        </p:spPr>
      </p:sp>
      <p:sp>
        <p:nvSpPr>
          <p:cNvPr id="10" name="Text 8"/>
          <p:cNvSpPr txBox="1"/>
          <p:nvPr/>
        </p:nvSpPr>
        <p:spPr>
          <a:xfrm>
            <a:off x="6217920" y="1252728"/>
            <a:ext cx="2286000" cy="5943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7</a:t>
            </a:r>
            <a:endParaRPr lang="en-US" sz="3200" dirty="0"/>
          </a:p>
        </p:txBody>
      </p:sp>
      <p:sp>
        <p:nvSpPr>
          <p:cNvPr id="11" name="Text 9"/>
          <p:cNvSpPr txBox="1"/>
          <p:nvPr/>
        </p:nvSpPr>
        <p:spPr>
          <a:xfrm>
            <a:off x="6217920" y="1856232"/>
            <a:ext cx="2286000" cy="411480"/>
          </a:xfrm>
          <a:prstGeom prst="rect">
            <a:avLst/>
          </a:prstGeom>
          <a:noFill/>
          <a:ln/>
        </p:spPr>
        <p:txBody>
          <a:bodyPr wrap="square" lIns="0" tIns="0" rIns="0" bIns="0" rtlCol="0" anchor="ctr"/>
          <a:lstStyle/>
          <a:p>
            <a:pPr indent="0" marL="0">
              <a:buNone/>
            </a:pPr>
            <a:r>
              <a:rPr lang="en-US" sz="1300" dirty="0">
                <a:solidFill>
                  <a:schemeClr val="tx1"/>
                </a:solidFill>
              </a:rPr>
              <a:t>title families from free-text titles</a:t>
            </a:r>
            <a:endParaRPr lang="en-US" sz="1300" dirty="0"/>
          </a:p>
        </p:txBody>
      </p:sp>
      <p:sp>
        <p:nvSpPr>
          <p:cNvPr id="12" name="Shape 10"/>
          <p:cNvSpPr/>
          <p:nvPr/>
        </p:nvSpPr>
        <p:spPr>
          <a:xfrm>
            <a:off x="457200" y="2560320"/>
            <a:ext cx="2606040" cy="1234440"/>
          </a:xfrm>
          <a:prstGeom prst="roundRect">
            <a:avLst>
              <a:gd name="adj" fmla="val 5926"/>
            </a:avLst>
          </a:prstGeom>
          <a:solidFill>
            <a:schemeClr val="bg2"/>
          </a:solidFill>
          <a:ln w="12700">
            <a:solidFill>
              <a:schemeClr val="bg2"/>
            </a:solidFill>
            <a:prstDash val="solid"/>
          </a:ln>
        </p:spPr>
      </p:sp>
      <p:sp>
        <p:nvSpPr>
          <p:cNvPr id="13" name="Text 11"/>
          <p:cNvSpPr txBox="1"/>
          <p:nvPr/>
        </p:nvSpPr>
        <p:spPr>
          <a:xfrm>
            <a:off x="640080" y="2670048"/>
            <a:ext cx="2286000" cy="5943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30</a:t>
            </a:r>
            <a:endParaRPr lang="en-US" sz="3200" dirty="0"/>
          </a:p>
        </p:txBody>
      </p:sp>
      <p:sp>
        <p:nvSpPr>
          <p:cNvPr id="14" name="Text 12"/>
          <p:cNvSpPr txBox="1"/>
          <p:nvPr/>
        </p:nvSpPr>
        <p:spPr>
          <a:xfrm>
            <a:off x="640080" y="3273552"/>
            <a:ext cx="2286000" cy="411480"/>
          </a:xfrm>
          <a:prstGeom prst="rect">
            <a:avLst/>
          </a:prstGeom>
          <a:noFill/>
          <a:ln/>
        </p:spPr>
        <p:txBody>
          <a:bodyPr wrap="square" lIns="0" tIns="0" rIns="0" bIns="0" rtlCol="0" anchor="ctr"/>
          <a:lstStyle/>
          <a:p>
            <a:pPr indent="0" marL="0">
              <a:buNone/>
            </a:pPr>
            <a:r>
              <a:rPr lang="en-US" sz="1300" dirty="0">
                <a:solidFill>
                  <a:schemeClr val="tx1"/>
                </a:solidFill>
              </a:rPr>
              <a:t>skill columns from free-text skills</a:t>
            </a:r>
            <a:endParaRPr lang="en-US" sz="1300" dirty="0"/>
          </a:p>
        </p:txBody>
      </p:sp>
      <p:sp>
        <p:nvSpPr>
          <p:cNvPr id="15" name="Shape 13"/>
          <p:cNvSpPr/>
          <p:nvPr/>
        </p:nvSpPr>
        <p:spPr>
          <a:xfrm>
            <a:off x="3246120" y="2560320"/>
            <a:ext cx="2606040" cy="1234440"/>
          </a:xfrm>
          <a:prstGeom prst="roundRect">
            <a:avLst>
              <a:gd name="adj" fmla="val 5926"/>
            </a:avLst>
          </a:prstGeom>
          <a:solidFill>
            <a:schemeClr val="bg2"/>
          </a:solidFill>
          <a:ln w="12700">
            <a:solidFill>
              <a:schemeClr val="bg2"/>
            </a:solidFill>
            <a:prstDash val="solid"/>
          </a:ln>
        </p:spPr>
      </p:sp>
      <p:sp>
        <p:nvSpPr>
          <p:cNvPr id="16" name="Text 14"/>
          <p:cNvSpPr txBox="1"/>
          <p:nvPr/>
        </p:nvSpPr>
        <p:spPr>
          <a:xfrm>
            <a:off x="3429000" y="2670048"/>
            <a:ext cx="2286000" cy="5943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95</a:t>
            </a:r>
            <a:endParaRPr lang="en-US" sz="3200" dirty="0"/>
          </a:p>
        </p:txBody>
      </p:sp>
      <p:sp>
        <p:nvSpPr>
          <p:cNvPr id="17" name="Text 15"/>
          <p:cNvSpPr txBox="1"/>
          <p:nvPr/>
        </p:nvSpPr>
        <p:spPr>
          <a:xfrm>
            <a:off x="3429000" y="3273552"/>
            <a:ext cx="2286000" cy="411480"/>
          </a:xfrm>
          <a:prstGeom prst="rect">
            <a:avLst/>
          </a:prstGeom>
          <a:noFill/>
          <a:ln/>
        </p:spPr>
        <p:txBody>
          <a:bodyPr wrap="square" lIns="0" tIns="0" rIns="0" bIns="0" rtlCol="0" anchor="ctr"/>
          <a:lstStyle/>
          <a:p>
            <a:pPr indent="0" marL="0">
              <a:buNone/>
            </a:pPr>
            <a:r>
              <a:rPr lang="en-US" sz="1300" dirty="0">
                <a:solidFill>
                  <a:schemeClr val="tx1"/>
                </a:solidFill>
              </a:rPr>
              <a:t>company-name variants merged</a:t>
            </a:r>
            <a:endParaRPr lang="en-US" sz="1300" dirty="0"/>
          </a:p>
        </p:txBody>
      </p:sp>
      <p:sp>
        <p:nvSpPr>
          <p:cNvPr id="18" name="Shape 16"/>
          <p:cNvSpPr/>
          <p:nvPr/>
        </p:nvSpPr>
        <p:spPr>
          <a:xfrm>
            <a:off x="6035040" y="2560320"/>
            <a:ext cx="2606040" cy="1234440"/>
          </a:xfrm>
          <a:prstGeom prst="roundRect">
            <a:avLst>
              <a:gd name="adj" fmla="val 5926"/>
            </a:avLst>
          </a:prstGeom>
          <a:solidFill>
            <a:schemeClr val="bg2"/>
          </a:solidFill>
          <a:ln w="12700">
            <a:solidFill>
              <a:schemeClr val="bg2"/>
            </a:solidFill>
            <a:prstDash val="solid"/>
          </a:ln>
        </p:spPr>
      </p:sp>
      <p:sp>
        <p:nvSpPr>
          <p:cNvPr id="19" name="Text 17"/>
          <p:cNvSpPr txBox="1"/>
          <p:nvPr/>
        </p:nvSpPr>
        <p:spPr>
          <a:xfrm>
            <a:off x="6217920" y="2670048"/>
            <a:ext cx="2286000" cy="5943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21</a:t>
            </a:r>
            <a:endParaRPr lang="en-US" sz="3200" dirty="0"/>
          </a:p>
        </p:txBody>
      </p:sp>
      <p:sp>
        <p:nvSpPr>
          <p:cNvPr id="20" name="Text 18"/>
          <p:cNvSpPr txBox="1"/>
          <p:nvPr/>
        </p:nvSpPr>
        <p:spPr>
          <a:xfrm>
            <a:off x="6217920" y="3273552"/>
            <a:ext cx="2286000" cy="411480"/>
          </a:xfrm>
          <a:prstGeom prst="rect">
            <a:avLst/>
          </a:prstGeom>
          <a:noFill/>
          <a:ln/>
        </p:spPr>
        <p:txBody>
          <a:bodyPr wrap="square" lIns="0" tIns="0" rIns="0" bIns="0" rtlCol="0" anchor="ctr"/>
          <a:lstStyle/>
          <a:p>
            <a:pPr indent="0" marL="0">
              <a:buNone/>
            </a:pPr>
            <a:r>
              <a:rPr lang="en-US" sz="1300" dirty="0">
                <a:solidFill>
                  <a:schemeClr val="tx1"/>
                </a:solidFill>
              </a:rPr>
              <a:t>repeated junior records dropped</a:t>
            </a:r>
            <a:endParaRPr lang="en-US" sz="1300" dirty="0"/>
          </a:p>
        </p:txBody>
      </p:sp>
      <p:sp>
        <p:nvSpPr>
          <p:cNvPr id="21" name="Text 19"/>
          <p:cNvSpPr txBox="1"/>
          <p:nvPr/>
        </p:nvSpPr>
        <p:spPr>
          <a:xfrm>
            <a:off x="457200" y="4023360"/>
            <a:ext cx="8229600" cy="365760"/>
          </a:xfrm>
          <a:prstGeom prst="rect">
            <a:avLst/>
          </a:prstGeom>
          <a:noFill/>
          <a:ln/>
        </p:spPr>
        <p:txBody>
          <a:bodyPr wrap="square" lIns="0" tIns="0" rIns="0" bIns="0" rtlCol="0" anchor="ctr"/>
          <a:lstStyle/>
          <a:p>
            <a:pPr indent="0" marL="0">
              <a:buNone/>
            </a:pPr>
            <a:r>
              <a:rPr lang="en-US" sz="1200" i="1" dirty="0">
                <a:solidFill>
                  <a:schemeClr val="tx2"/>
                </a:solidFill>
              </a:rPr>
              <a:t>Text salaries and experience parsed to numbers · log salary used in all models · logs saved for every step</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2400" b="1" dirty="0">
                <a:solidFill>
                  <a:schemeClr val="tx1"/>
                </a:solidFill>
                <a:latin typeface="Cambria" pitchFamily="34" charset="0"/>
                <a:ea typeface="Cambria" pitchFamily="34" charset="-122"/>
                <a:cs typeface="Cambria" pitchFamily="34" charset="-120"/>
              </a:rPr>
              <a:t>Q1 · A few skills pay — some even cost you</a:t>
            </a:r>
            <a:endParaRPr lang="en-US" sz="2400" dirty="0"/>
          </a:p>
        </p:txBody>
      </p:sp>
      <p:sp>
        <p:nvSpPr>
          <p:cNvPr id="3" name="tag Q1"/>
          <p:cNvSpPr txBox="1"/>
          <p:nvPr/>
        </p:nvSpPr>
        <p:spPr>
          <a:xfrm>
            <a:off x="457200" y="1024128"/>
            <a:ext cx="566928" cy="292608"/>
          </a:xfrm>
          <a:prstGeom prst="roundRect">
            <a:avLst>
              <a:gd name="adj" fmla="val 37500"/>
            </a:avLst>
          </a:prstGeom>
          <a:solidFill>
            <a:schemeClr val="accent1"/>
          </a:solidFill>
          <a:ln/>
        </p:spPr>
        <p:txBody>
          <a:bodyPr wrap="square" lIns="0" tIns="0" rIns="0" bIns="0" rtlCol="0" anchor="ctr"/>
          <a:lstStyle/>
          <a:p>
            <a:pPr algn="ctr" indent="0" marL="0">
              <a:buNone/>
            </a:pPr>
            <a:r>
              <a:rPr lang="en-US" sz="1100" b="1" dirty="0">
                <a:solidFill>
                  <a:schemeClr val="bg1"/>
                </a:solidFill>
              </a:rPr>
              <a:t>Q1</a:t>
            </a:r>
            <a:endParaRPr lang="en-US" sz="1100" dirty="0"/>
          </a:p>
        </p:txBody>
      </p:sp>
      <p:graphicFrame>
        <p:nvGraphicFramePr>
          <p:cNvPr id="4" name="Chart 0" descr=""/>
          <p:cNvGraphicFramePr/>
          <p:nvPr/>
        </p:nvGraphicFramePr>
        <p:xfrm>
          <a:off x="457200" y="137160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943600" y="1371600"/>
            <a:ext cx="2743200" cy="68580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1.4 yrs</a:t>
            </a:r>
            <a:endParaRPr lang="en-US" sz="4000" dirty="0"/>
          </a:p>
        </p:txBody>
      </p:sp>
      <p:sp>
        <p:nvSpPr>
          <p:cNvPr id="6" name="Text 3"/>
          <p:cNvSpPr txBox="1"/>
          <p:nvPr/>
        </p:nvSpPr>
        <p:spPr>
          <a:xfrm>
            <a:off x="5943600" y="2057400"/>
            <a:ext cx="2743200" cy="548640"/>
          </a:xfrm>
          <a:prstGeom prst="rect">
            <a:avLst/>
          </a:prstGeom>
          <a:noFill/>
          <a:ln/>
        </p:spPr>
        <p:txBody>
          <a:bodyPr wrap="square" lIns="0" tIns="0" rIns="0" bIns="0" rtlCol="0" anchor="t"/>
          <a:lstStyle/>
          <a:p>
            <a:pPr indent="0" marL="0">
              <a:buNone/>
            </a:pPr>
            <a:r>
              <a:rPr lang="en-US" sz="1200" dirty="0">
                <a:solidFill>
                  <a:schemeClr val="tx2"/>
                </a:solidFill>
              </a:rPr>
              <a:t>Java's premium equals 1.4 years of experience; SQL and business analysis about 1.1</a:t>
            </a:r>
            <a:endParaRPr lang="en-US" sz="1200" dirty="0"/>
          </a:p>
        </p:txBody>
      </p:sp>
      <p:sp>
        <p:nvSpPr>
          <p:cNvPr id="7" name="Text 4"/>
          <p:cNvSpPr txBox="1"/>
          <p:nvPr/>
        </p:nvSpPr>
        <p:spPr>
          <a:xfrm>
            <a:off x="5943600" y="2788920"/>
            <a:ext cx="2743200" cy="1828800"/>
          </a:xfrm>
          <a:prstGeom prst="rect">
            <a:avLst/>
          </a:prstGeom>
          <a:noFill/>
          <a:ln/>
        </p:spPr>
        <p:txBody>
          <a:bodyPr wrap="square" lIns="0" tIns="0" rIns="0" bIns="0" rtlCol="0" anchor="t"/>
          <a:lstStyle/>
          <a:p>
            <a:pPr indent="0" marL="0">
              <a:spcAft>
                <a:spcPts val="800"/>
              </a:spcAft>
              <a:buNone/>
            </a:pPr>
            <a:r>
              <a:rPr lang="en-US" sz="1300" b="1" dirty="0">
                <a:solidFill>
                  <a:schemeClr val="tx1"/>
                </a:solidFill>
              </a:rPr>
              <a:t>17 of 30</a:t>
            </a:r>
            <a:pPr indent="0" marL="0">
              <a:spcAft>
                <a:spcPts val="800"/>
              </a:spcAft>
              <a:buNone/>
            </a:pPr>
            <a:r>
              <a:rPr lang="en-US" sz="1300" dirty="0">
                <a:solidFill>
                  <a:schemeClr val="tx1"/>
                </a:solidFill>
              </a:rPr>
              <a:t> skills have a reliable effect</a:t>
            </a:r>
            <a:endParaRPr lang="en-US" sz="1300" dirty="0"/>
          </a:p>
          <a:p>
            <a:pPr indent="0" marL="0">
              <a:spcAft>
                <a:spcPts val="800"/>
              </a:spcAft>
              <a:buNone/>
            </a:pPr>
            <a:r>
              <a:rPr lang="en-US" sz="1300" b="1" dirty="0">
                <a:solidFill>
                  <a:schemeClr val="tx1"/>
                </a:solidFill>
              </a:rPr>
              <a:t>Big data, Spark</a:t>
            </a:r>
            <a:pPr indent="0" marL="0">
              <a:spcAft>
                <a:spcPts val="800"/>
              </a:spcAft>
              <a:buNone/>
            </a:pPr>
            <a:r>
              <a:rPr lang="en-US" sz="1300" dirty="0">
                <a:solidFill>
                  <a:schemeClr val="tx1"/>
                </a:solidFill>
              </a:rPr>
              <a:t> add nothing once the title is known</a:t>
            </a:r>
            <a:endParaRPr lang="en-US" sz="1300" dirty="0"/>
          </a:p>
          <a:p>
            <a:pPr indent="0" marL="0">
              <a:spcAft>
                <a:spcPts val="800"/>
              </a:spcAft>
              <a:buNone/>
            </a:pPr>
            <a:r>
              <a:rPr lang="en-US" sz="1300" b="1" dirty="0">
                <a:solidFill>
                  <a:schemeClr val="tx1"/>
                </a:solidFill>
              </a:rPr>
              <a:t>Excel, SEO</a:t>
            </a:r>
            <a:pPr indent="0" marL="0">
              <a:spcAft>
                <a:spcPts val="800"/>
              </a:spcAft>
              <a:buNone/>
            </a:pPr>
            <a:r>
              <a:rPr lang="en-US" sz="1300" dirty="0">
                <a:solidFill>
                  <a:schemeClr val="tx1"/>
                </a:solidFill>
              </a:rPr>
              <a:t> signal lower-paid roles</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2400" b="1" dirty="0">
                <a:solidFill>
                  <a:schemeClr val="tx1"/>
                </a:solidFill>
                <a:latin typeface="Cambria" pitchFamily="34" charset="0"/>
                <a:ea typeface="Cambria" pitchFamily="34" charset="-122"/>
                <a:cs typeface="Cambria" pitchFamily="34" charset="-120"/>
              </a:rPr>
              <a:t>Q2 · Labels keep most of their premium after 30 skills</a:t>
            </a:r>
            <a:endParaRPr lang="en-US" sz="2400" dirty="0"/>
          </a:p>
        </p:txBody>
      </p:sp>
      <p:sp>
        <p:nvSpPr>
          <p:cNvPr id="3" name="tag Q2"/>
          <p:cNvSpPr txBox="1"/>
          <p:nvPr/>
        </p:nvSpPr>
        <p:spPr>
          <a:xfrm>
            <a:off x="457200" y="1024128"/>
            <a:ext cx="566928" cy="292608"/>
          </a:xfrm>
          <a:prstGeom prst="roundRect">
            <a:avLst>
              <a:gd name="adj" fmla="val 37500"/>
            </a:avLst>
          </a:prstGeom>
          <a:solidFill>
            <a:schemeClr val="accent1"/>
          </a:solidFill>
          <a:ln/>
        </p:spPr>
        <p:txBody>
          <a:bodyPr wrap="square" lIns="0" tIns="0" rIns="0" bIns="0" rtlCol="0" anchor="ctr"/>
          <a:lstStyle/>
          <a:p>
            <a:pPr algn="ctr" indent="0" marL="0">
              <a:buNone/>
            </a:pPr>
            <a:r>
              <a:rPr lang="en-US" sz="1100" b="1" dirty="0">
                <a:solidFill>
                  <a:schemeClr val="bg1"/>
                </a:solidFill>
              </a:rPr>
              <a:t>Q2</a:t>
            </a:r>
            <a:endParaRPr lang="en-US" sz="1100" dirty="0"/>
          </a:p>
        </p:txBody>
      </p:sp>
      <p:graphicFrame>
        <p:nvGraphicFramePr>
          <p:cNvPr id="4" name="Chart 0" descr=""/>
          <p:cNvGraphicFramePr/>
          <p:nvPr/>
        </p:nvGraphicFramePr>
        <p:xfrm>
          <a:off x="457200" y="1371600"/>
          <a:ext cx="5394960" cy="3337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217920" y="1371600"/>
            <a:ext cx="246888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62%</a:t>
            </a:r>
            <a:endParaRPr lang="en-US" sz="4000" dirty="0"/>
          </a:p>
        </p:txBody>
      </p:sp>
      <p:sp>
        <p:nvSpPr>
          <p:cNvPr id="6" name="Text 3"/>
          <p:cNvSpPr txBox="1"/>
          <p:nvPr/>
        </p:nvSpPr>
        <p:spPr>
          <a:xfrm>
            <a:off x="6217920" y="2057400"/>
            <a:ext cx="2468880" cy="548640"/>
          </a:xfrm>
          <a:prstGeom prst="rect">
            <a:avLst/>
          </a:prstGeom>
          <a:noFill/>
          <a:ln/>
        </p:spPr>
        <p:txBody>
          <a:bodyPr wrap="square" lIns="0" tIns="0" rIns="0" bIns="0" rtlCol="0" anchor="t"/>
          <a:lstStyle/>
          <a:p>
            <a:pPr indent="0" marL="0">
              <a:buNone/>
            </a:pPr>
            <a:r>
              <a:rPr lang="en-US" sz="1200" dirty="0">
                <a:solidFill>
                  <a:schemeClr val="tx2"/>
                </a:solidFill>
              </a:rPr>
              <a:t>of the average title premium survives the skill controls</a:t>
            </a:r>
            <a:endParaRPr lang="en-US" sz="1200" dirty="0"/>
          </a:p>
        </p:txBody>
      </p:sp>
      <p:sp>
        <p:nvSpPr>
          <p:cNvPr id="7" name="Text 4"/>
          <p:cNvSpPr txBox="1"/>
          <p:nvPr/>
        </p:nvSpPr>
        <p:spPr>
          <a:xfrm>
            <a:off x="6217920" y="2743200"/>
            <a:ext cx="2468880" cy="1920240"/>
          </a:xfrm>
          <a:prstGeom prst="rect">
            <a:avLst/>
          </a:prstGeom>
          <a:noFill/>
          <a:ln/>
        </p:spPr>
        <p:txBody>
          <a:bodyPr wrap="square" lIns="0" tIns="0" rIns="0" bIns="0" rtlCol="0" anchor="t"/>
          <a:lstStyle/>
          <a:p>
            <a:pPr indent="0" marL="0">
              <a:spcAft>
                <a:spcPts val="800"/>
              </a:spcAft>
              <a:buNone/>
            </a:pPr>
            <a:r>
              <a:rPr lang="en-US" sz="1300" b="1" dirty="0">
                <a:solidFill>
                  <a:schemeClr val="tx1"/>
                </a:solidFill>
              </a:rPr>
              <a:t>ML Engineer +31%</a:t>
            </a:r>
            <a:pPr indent="0" marL="0">
              <a:spcAft>
                <a:spcPts val="800"/>
              </a:spcAft>
              <a:buNone/>
            </a:pPr>
            <a:r>
              <a:rPr lang="en-US" sz="1300" dirty="0">
                <a:solidFill>
                  <a:schemeClr val="tx1"/>
                </a:solidFill>
              </a:rPr>
              <a:t>, Data Scientist +16% at equal skills</a:t>
            </a:r>
            <a:endParaRPr lang="en-US" sz="1300" dirty="0"/>
          </a:p>
          <a:p>
            <a:pPr indent="0" marL="0">
              <a:spcAft>
                <a:spcPts val="800"/>
              </a:spcAft>
              <a:buNone/>
            </a:pPr>
            <a:r>
              <a:rPr lang="en-US" sz="1300" b="1" dirty="0">
                <a:solidFill>
                  <a:schemeClr val="tx1"/>
                </a:solidFill>
              </a:rPr>
              <a:t>R² 0.480 → 0.493</a:t>
            </a:r>
            <a:pPr indent="0" marL="0">
              <a:spcAft>
                <a:spcPts val="800"/>
              </a:spcAft>
              <a:buNone/>
            </a:pPr>
            <a:r>
              <a:rPr lang="en-US" sz="1300" dirty="0">
                <a:solidFill>
                  <a:schemeClr val="tx1"/>
                </a:solidFill>
              </a:rPr>
              <a:t> when all 30 skills are added</a:t>
            </a:r>
            <a:endParaRPr lang="en-US" sz="1300" dirty="0"/>
          </a:p>
          <a:p>
            <a:pPr indent="0" marL="0">
              <a:spcAft>
                <a:spcPts val="800"/>
              </a:spcAft>
              <a:buNone/>
            </a:pPr>
            <a:r>
              <a:rPr lang="en-US" sz="1300" b="1" dirty="0">
                <a:solidFill>
                  <a:schemeClr val="tx1"/>
                </a:solidFill>
              </a:rPr>
              <a:t>DA vs DS skill profiles: cosine 0.47</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2400" b="1" dirty="0">
                <a:solidFill>
                  <a:schemeClr val="tx1"/>
                </a:solidFill>
                <a:latin typeface="Cambria" pitchFamily="34" charset="0"/>
                <a:ea typeface="Cambria" pitchFamily="34" charset="-122"/>
                <a:cs typeface="Cambria" pitchFamily="34" charset="-120"/>
              </a:rPr>
              <a:t>Q2 · Same experience, different title, very different pay</a:t>
            </a:r>
            <a:endParaRPr lang="en-US" sz="2400" dirty="0"/>
          </a:p>
        </p:txBody>
      </p:sp>
      <p:sp>
        <p:nvSpPr>
          <p:cNvPr id="3" name="tag Q2"/>
          <p:cNvSpPr txBox="1"/>
          <p:nvPr/>
        </p:nvSpPr>
        <p:spPr>
          <a:xfrm>
            <a:off x="457200" y="1024128"/>
            <a:ext cx="566928" cy="292608"/>
          </a:xfrm>
          <a:prstGeom prst="roundRect">
            <a:avLst>
              <a:gd name="adj" fmla="val 37500"/>
            </a:avLst>
          </a:prstGeom>
          <a:solidFill>
            <a:schemeClr val="accent1"/>
          </a:solidFill>
          <a:ln/>
        </p:spPr>
        <p:txBody>
          <a:bodyPr wrap="square" lIns="0" tIns="0" rIns="0" bIns="0" rtlCol="0" anchor="ctr"/>
          <a:lstStyle/>
          <a:p>
            <a:pPr algn="ctr" indent="0" marL="0">
              <a:buNone/>
            </a:pPr>
            <a:r>
              <a:rPr lang="en-US" sz="1100" b="1" dirty="0">
                <a:solidFill>
                  <a:schemeClr val="bg1"/>
                </a:solidFill>
              </a:rPr>
              <a:t>Q2</a:t>
            </a:r>
            <a:endParaRPr lang="en-US" sz="1100" dirty="0"/>
          </a:p>
        </p:txBody>
      </p:sp>
      <p:graphicFrame>
        <p:nvGraphicFramePr>
          <p:cNvPr id="4" name="Chart 0" descr=""/>
          <p:cNvGraphicFramePr/>
          <p:nvPr/>
        </p:nvGraphicFramePr>
        <p:xfrm>
          <a:off x="457200" y="1371600"/>
          <a:ext cx="5394960" cy="3337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217920" y="1371600"/>
            <a:ext cx="246888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14–36%</a:t>
            </a:r>
            <a:endParaRPr lang="en-US" sz="4000" dirty="0"/>
          </a:p>
        </p:txBody>
      </p:sp>
      <p:sp>
        <p:nvSpPr>
          <p:cNvPr id="6" name="Text 3"/>
          <p:cNvSpPr txBox="1"/>
          <p:nvPr/>
        </p:nvSpPr>
        <p:spPr>
          <a:xfrm>
            <a:off x="6217920" y="2057400"/>
            <a:ext cx="2468880" cy="548640"/>
          </a:xfrm>
          <a:prstGeom prst="rect">
            <a:avLst/>
          </a:prstGeom>
          <a:noFill/>
          <a:ln/>
        </p:spPr>
        <p:txBody>
          <a:bodyPr wrap="square" lIns="0" tIns="0" rIns="0" bIns="0" rtlCol="0" anchor="t"/>
          <a:lstStyle/>
          <a:p>
            <a:pPr indent="0" marL="0">
              <a:buNone/>
            </a:pPr>
            <a:r>
              <a:rPr lang="en-US" sz="1200" dirty="0">
                <a:solidFill>
                  <a:schemeClr val="tx2"/>
                </a:solidFill>
              </a:rPr>
              <a:t>what the word 'Senior' adds on top of the base role at the same experience</a:t>
            </a:r>
            <a:endParaRPr lang="en-US" sz="1200" dirty="0"/>
          </a:p>
        </p:txBody>
      </p:sp>
      <p:sp>
        <p:nvSpPr>
          <p:cNvPr id="7" name="Text 4"/>
          <p:cNvSpPr txBox="1"/>
          <p:nvPr/>
        </p:nvSpPr>
        <p:spPr>
          <a:xfrm>
            <a:off x="6217920" y="2834640"/>
            <a:ext cx="2468880" cy="1828800"/>
          </a:xfrm>
          <a:prstGeom prst="rect">
            <a:avLst/>
          </a:prstGeom>
          <a:noFill/>
          <a:ln/>
        </p:spPr>
        <p:txBody>
          <a:bodyPr wrap="square" lIns="0" tIns="0" rIns="0" bIns="0" rtlCol="0" anchor="t"/>
          <a:lstStyle/>
          <a:p>
            <a:pPr indent="0" marL="0">
              <a:spcAft>
                <a:spcPts val="800"/>
              </a:spcAft>
              <a:buNone/>
            </a:pPr>
            <a:r>
              <a:rPr lang="en-US" sz="1300" b="1" dirty="0">
                <a:solidFill>
                  <a:schemeClr val="tx1"/>
                </a:solidFill>
              </a:rPr>
              <a:t>55% of postings</a:t>
            </a:r>
            <a:pPr indent="0" marL="0">
              <a:spcAft>
                <a:spcPts val="800"/>
              </a:spcAft>
              <a:buNone/>
            </a:pPr>
            <a:r>
              <a:rPr lang="en-US" sz="1300" dirty="0">
                <a:solidFill>
                  <a:schemeClr val="tx1"/>
                </a:solidFill>
              </a:rPr>
              <a:t> are Business/Data Analyst roles: the two lowest-paid titles</a:t>
            </a:r>
            <a:endParaRPr lang="en-US" sz="1300" dirty="0"/>
          </a:p>
          <a:p>
            <a:pPr indent="0" marL="0">
              <a:spcAft>
                <a:spcPts val="800"/>
              </a:spcAft>
              <a:buNone/>
            </a:pPr>
            <a:r>
              <a:rPr lang="en-US" sz="1300" b="1" dirty="0">
                <a:solidFill>
                  <a:schemeClr val="tx1"/>
                </a:solidFill>
              </a:rPr>
              <a:t>Demand vs pay: Spearman −0.65</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2400" b="1" dirty="0">
                <a:solidFill>
                  <a:schemeClr val="tx1"/>
                </a:solidFill>
                <a:latin typeface="Cambria" pitchFamily="34" charset="0"/>
                <a:ea typeface="Cambria" pitchFamily="34" charset="-122"/>
                <a:cs typeface="Cambria" pitchFamily="34" charset="-120"/>
              </a:rPr>
              <a:t>Q3 · Pay growth is front-loaded: the first 6.5 years decide it</a:t>
            </a:r>
            <a:endParaRPr lang="en-US" sz="2400" dirty="0"/>
          </a:p>
        </p:txBody>
      </p:sp>
      <p:sp>
        <p:nvSpPr>
          <p:cNvPr id="3" name="tag Q3"/>
          <p:cNvSpPr txBox="1"/>
          <p:nvPr/>
        </p:nvSpPr>
        <p:spPr>
          <a:xfrm>
            <a:off x="457200" y="1024128"/>
            <a:ext cx="566928" cy="292608"/>
          </a:xfrm>
          <a:prstGeom prst="roundRect">
            <a:avLst>
              <a:gd name="adj" fmla="val 37500"/>
            </a:avLst>
          </a:prstGeom>
          <a:solidFill>
            <a:schemeClr val="accent1"/>
          </a:solidFill>
          <a:ln/>
        </p:spPr>
        <p:txBody>
          <a:bodyPr wrap="square" lIns="0" tIns="0" rIns="0" bIns="0" rtlCol="0" anchor="ctr"/>
          <a:lstStyle/>
          <a:p>
            <a:pPr algn="ctr" indent="0" marL="0">
              <a:buNone/>
            </a:pPr>
            <a:r>
              <a:rPr lang="en-US" sz="1100" b="1" dirty="0">
                <a:solidFill>
                  <a:schemeClr val="bg1"/>
                </a:solidFill>
              </a:rPr>
              <a:t>Q3</a:t>
            </a:r>
            <a:endParaRPr lang="en-US" sz="1100" dirty="0"/>
          </a:p>
        </p:txBody>
      </p:sp>
      <p:graphicFrame>
        <p:nvGraphicFramePr>
          <p:cNvPr id="4" name="Chart 0" descr=""/>
          <p:cNvGraphicFramePr/>
          <p:nvPr/>
        </p:nvGraphicFramePr>
        <p:xfrm>
          <a:off x="457200" y="1371600"/>
          <a:ext cx="5394960" cy="3337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217920" y="1371600"/>
            <a:ext cx="1234440" cy="68580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+36%</a:t>
            </a:r>
            <a:endParaRPr lang="en-US" sz="3000" dirty="0"/>
          </a:p>
        </p:txBody>
      </p:sp>
      <p:sp>
        <p:nvSpPr>
          <p:cNvPr id="6" name="Text 3"/>
          <p:cNvSpPr txBox="1"/>
          <p:nvPr/>
        </p:nvSpPr>
        <p:spPr>
          <a:xfrm>
            <a:off x="6217920" y="2057400"/>
            <a:ext cx="1234440" cy="548640"/>
          </a:xfrm>
          <a:prstGeom prst="rect">
            <a:avLst/>
          </a:prstGeom>
          <a:noFill/>
          <a:ln/>
        </p:spPr>
        <p:txBody>
          <a:bodyPr wrap="square" lIns="0" tIns="0" rIns="0" bIns="0" rtlCol="0" anchor="t"/>
          <a:lstStyle/>
          <a:p>
            <a:pPr indent="0" marL="0">
              <a:buNone/>
            </a:pPr>
            <a:r>
              <a:rPr lang="en-US" sz="1200" dirty="0">
                <a:solidFill>
                  <a:schemeClr val="tx2"/>
                </a:solidFill>
              </a:rPr>
              <a:t>a year, up to 6.5 years</a:t>
            </a:r>
            <a:endParaRPr lang="en-US" sz="1200" dirty="0"/>
          </a:p>
        </p:txBody>
      </p:sp>
      <p:sp>
        <p:nvSpPr>
          <p:cNvPr id="7" name="Text 4"/>
          <p:cNvSpPr txBox="1"/>
          <p:nvPr/>
        </p:nvSpPr>
        <p:spPr>
          <a:xfrm>
            <a:off x="7498080" y="1371600"/>
            <a:ext cx="123444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+7%</a:t>
            </a:r>
            <a:endParaRPr lang="en-US" sz="3000" dirty="0"/>
          </a:p>
        </p:txBody>
      </p:sp>
      <p:sp>
        <p:nvSpPr>
          <p:cNvPr id="8" name="Text 5"/>
          <p:cNvSpPr txBox="1"/>
          <p:nvPr/>
        </p:nvSpPr>
        <p:spPr>
          <a:xfrm>
            <a:off x="7498080" y="2057400"/>
            <a:ext cx="1234440" cy="548640"/>
          </a:xfrm>
          <a:prstGeom prst="rect">
            <a:avLst/>
          </a:prstGeom>
          <a:noFill/>
          <a:ln/>
        </p:spPr>
        <p:txBody>
          <a:bodyPr wrap="square" lIns="0" tIns="0" rIns="0" bIns="0" rtlCol="0" anchor="t"/>
          <a:lstStyle/>
          <a:p>
            <a:pPr indent="0" marL="0">
              <a:buNone/>
            </a:pPr>
            <a:r>
              <a:rPr lang="en-US" sz="1200" dirty="0">
                <a:solidFill>
                  <a:schemeClr val="tx2"/>
                </a:solidFill>
              </a:rPr>
              <a:t>a year after</a:t>
            </a:r>
            <a:endParaRPr lang="en-US" sz="1200" dirty="0"/>
          </a:p>
        </p:txBody>
      </p:sp>
      <p:sp>
        <p:nvSpPr>
          <p:cNvPr id="9" name="Text 6"/>
          <p:cNvSpPr txBox="1"/>
          <p:nvPr/>
        </p:nvSpPr>
        <p:spPr>
          <a:xfrm>
            <a:off x="6217920" y="2834640"/>
            <a:ext cx="2468880" cy="1828800"/>
          </a:xfrm>
          <a:prstGeom prst="rect">
            <a:avLst/>
          </a:prstGeom>
          <a:noFill/>
          <a:ln/>
        </p:spPr>
        <p:txBody>
          <a:bodyPr wrap="square" lIns="0" tIns="0" rIns="0" bIns="0" rtlCol="0" anchor="t"/>
          <a:lstStyle/>
          <a:p>
            <a:pPr indent="0" marL="0">
              <a:spcAft>
                <a:spcPts val="800"/>
              </a:spcAft>
              <a:buNone/>
            </a:pPr>
            <a:r>
              <a:rPr lang="en-US" sz="1300" b="1" dirty="0">
                <a:solidFill>
                  <a:schemeClr val="tx1"/>
                </a:solidFill>
              </a:rPr>
              <a:t>Break at 6.5 yrs</a:t>
            </a:r>
            <a:pPr indent="0" marL="0">
              <a:spcAft>
                <a:spcPts val="800"/>
              </a:spcAft>
              <a:buNone/>
            </a:pPr>
            <a:r>
              <a:rPr lang="en-US" sz="1300" dirty="0">
                <a:solidFill>
                  <a:schemeClr val="tx1"/>
                </a:solidFill>
              </a:rPr>
              <a:t> (bootstrap 95% CI 6.0–7.0)</a:t>
            </a:r>
            <a:endParaRPr lang="en-US" sz="1300" dirty="0"/>
          </a:p>
          <a:p>
            <a:pPr indent="0" marL="0">
              <a:spcAft>
                <a:spcPts val="800"/>
              </a:spcAft>
              <a:buNone/>
            </a:pPr>
            <a:r>
              <a:rPr lang="en-US" sz="1300" b="1" dirty="0">
                <a:solidFill>
                  <a:schemeClr val="tx1"/>
                </a:solidFill>
              </a:rPr>
              <a:t>Top earners</a:t>
            </a:r>
            <a:pPr indent="0" marL="0">
              <a:spcAft>
                <a:spcPts val="800"/>
              </a:spcAft>
              <a:buNone/>
            </a:pPr>
            <a:r>
              <a:rPr lang="en-US" sz="1300" dirty="0">
                <a:solidFill>
                  <a:schemeClr val="tx1"/>
                </a:solidFill>
              </a:rPr>
              <a:t> keep climbing until ~10 years</a:t>
            </a:r>
            <a:endParaRPr lang="en-US" sz="1300" dirty="0"/>
          </a:p>
          <a:p>
            <a:pPr indent="0" marL="0">
              <a:spcAft>
                <a:spcPts val="800"/>
              </a:spcAft>
              <a:buNone/>
            </a:pPr>
            <a:r>
              <a:rPr lang="en-US" sz="1300" b="1" dirty="0">
                <a:solidFill>
                  <a:schemeClr val="tx1"/>
                </a:solidFill>
              </a:rPr>
              <a:t>Median ₹1.5 L → ₹12.5 L</a:t>
            </a:r>
            <a:pPr indent="0" marL="0">
              <a:spcAft>
                <a:spcPts val="800"/>
              </a:spcAft>
              <a:buNone/>
            </a:pPr>
            <a:r>
              <a:rPr lang="en-US" sz="1300" dirty="0">
                <a:solidFill>
                  <a:schemeClr val="tx1"/>
                </a:solidFill>
              </a:rPr>
              <a:t> in the first 6–9 years</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2400" b="1" dirty="0">
                <a:solidFill>
                  <a:schemeClr val="tx1"/>
                </a:solidFill>
                <a:latin typeface="Cambria" pitchFamily="34" charset="0"/>
                <a:ea typeface="Cambria" pitchFamily="34" charset="-122"/>
                <a:cs typeface="Cambria" pitchFamily="34" charset="-120"/>
              </a:rPr>
              <a:t>Q4 · Juniors are paid for maths and storytelling, not coding</a:t>
            </a:r>
            <a:endParaRPr lang="en-US" sz="2400" dirty="0"/>
          </a:p>
        </p:txBody>
      </p:sp>
      <p:sp>
        <p:nvSpPr>
          <p:cNvPr id="3" name="tag Q4"/>
          <p:cNvSpPr txBox="1"/>
          <p:nvPr/>
        </p:nvSpPr>
        <p:spPr>
          <a:xfrm>
            <a:off x="457200" y="1024128"/>
            <a:ext cx="566928" cy="292608"/>
          </a:xfrm>
          <a:prstGeom prst="roundRect">
            <a:avLst>
              <a:gd name="adj" fmla="val 37500"/>
            </a:avLst>
          </a:prstGeom>
          <a:solidFill>
            <a:schemeClr val="accent2"/>
          </a:solidFill>
          <a:ln/>
        </p:spPr>
        <p:txBody>
          <a:bodyPr wrap="square" lIns="0" tIns="0" rIns="0" bIns="0" rtlCol="0" anchor="ctr"/>
          <a:lstStyle/>
          <a:p>
            <a:pPr algn="ctr" indent="0" marL="0">
              <a:buNone/>
            </a:pPr>
            <a:r>
              <a:rPr lang="en-US" sz="1100" b="1" dirty="0">
                <a:solidFill>
                  <a:schemeClr val="bg1"/>
                </a:solidFill>
              </a:rPr>
              <a:t>Q4</a:t>
            </a:r>
            <a:endParaRPr lang="en-US" sz="1100" dirty="0"/>
          </a:p>
        </p:txBody>
      </p:sp>
      <p:graphicFrame>
        <p:nvGraphicFramePr>
          <p:cNvPr id="4" name="Chart 0" descr=""/>
          <p:cNvGraphicFramePr/>
          <p:nvPr/>
        </p:nvGraphicFramePr>
        <p:xfrm>
          <a:off x="457200" y="1371600"/>
          <a:ext cx="5120640" cy="27432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206240"/>
            <a:ext cx="5120640" cy="365760"/>
          </a:xfrm>
          <a:prstGeom prst="rect">
            <a:avLst/>
          </a:prstGeom>
          <a:noFill/>
          <a:ln/>
        </p:spPr>
        <p:txBody>
          <a:bodyPr wrap="square" lIns="0" tIns="0" rIns="0" bIns="0" rtlCol="0" anchor="ctr"/>
          <a:lstStyle/>
          <a:p>
            <a:pPr indent="0" marL="0">
              <a:buNone/>
            </a:pPr>
            <a:r>
              <a:rPr lang="en-US" sz="1100" dirty="0">
                <a:solidFill>
                  <a:schemeClr val="tx2"/>
                </a:solidFill>
              </a:rPr>
              <a:t>Logistic regression, 118 juniors · CV AUC 0.89 · accuracy 84% vs 51% by guessing</a:t>
            </a:r>
            <a:endParaRPr lang="en-US" sz="1100" dirty="0"/>
          </a:p>
        </p:txBody>
      </p:sp>
      <p:sp>
        <p:nvSpPr>
          <p:cNvPr id="6" name="Shape 3"/>
          <p:cNvSpPr/>
          <p:nvPr/>
        </p:nvSpPr>
        <p:spPr>
          <a:xfrm>
            <a:off x="5943600" y="1371600"/>
            <a:ext cx="2743200" cy="1965960"/>
          </a:xfrm>
          <a:prstGeom prst="roundRect">
            <a:avLst>
              <a:gd name="adj" fmla="val 3721"/>
            </a:avLst>
          </a:prstGeom>
          <a:solidFill>
            <a:srgbClr val="E8F1FB"/>
          </a:solidFill>
          <a:ln w="12700">
            <a:solidFill>
              <a:srgbClr val="E8F1FB"/>
            </a:solidFill>
            <a:prstDash val="solid"/>
          </a:ln>
        </p:spPr>
      </p:sp>
      <p:sp>
        <p:nvSpPr>
          <p:cNvPr id="7" name="Text 4"/>
          <p:cNvSpPr txBox="1"/>
          <p:nvPr/>
        </p:nvSpPr>
        <p:spPr>
          <a:xfrm>
            <a:off x="6126480" y="1481328"/>
            <a:ext cx="2377440" cy="320040"/>
          </a:xfrm>
          <a:prstGeom prst="rect">
            <a:avLst/>
          </a:prstGeom>
          <a:noFill/>
          <a:ln/>
        </p:spPr>
        <p:txBody>
          <a:bodyPr wrap="square" lIns="0" tIns="0" rIns="0" bIns="0" rtlCol="0" anchor="ctr"/>
          <a:lstStyle/>
          <a:p>
            <a:pPr indent="0" marL="0">
              <a:buNone/>
            </a:pPr>
            <a:r>
              <a:rPr lang="en-US" sz="1400" b="1" dirty="0">
                <a:solidFill>
                  <a:schemeClr val="accent2"/>
                </a:solidFill>
              </a:rPr>
              <a:t>Decision rule</a:t>
            </a:r>
            <a:endParaRPr lang="en-US" sz="1400" dirty="0"/>
          </a:p>
        </p:txBody>
      </p:sp>
      <p:sp>
        <p:nvSpPr>
          <p:cNvPr id="8" name="Text 5"/>
          <p:cNvSpPr txBox="1"/>
          <p:nvPr/>
        </p:nvSpPr>
        <p:spPr>
          <a:xfrm>
            <a:off x="6126480" y="1828800"/>
            <a:ext cx="2377440" cy="1371600"/>
          </a:xfrm>
          <a:prstGeom prst="rect">
            <a:avLst/>
          </a:prstGeom>
          <a:noFill/>
          <a:ln/>
        </p:spPr>
        <p:txBody>
          <a:bodyPr wrap="square" lIns="0" tIns="0" rIns="0" bIns="0" rtlCol="0" anchor="t"/>
          <a:lstStyle/>
          <a:p>
            <a:pPr indent="0" marL="0">
              <a:buNone/>
            </a:pPr>
            <a:r>
              <a:rPr lang="en-US" sz="1400" dirty="0">
                <a:solidFill>
                  <a:schemeClr val="tx1"/>
                </a:solidFill>
              </a:rPr>
              <a:t>Storytelling &gt; 4.15</a:t>
            </a:r>
            <a:endParaRPr lang="en-US" sz="1400" dirty="0"/>
          </a:p>
          <a:p>
            <a:pPr indent="0" marL="0">
              <a:buNone/>
            </a:pPr>
            <a:r>
              <a:rPr lang="en-US" sz="1400" dirty="0">
                <a:solidFill>
                  <a:schemeClr val="tx1"/>
                </a:solidFill>
              </a:rPr>
              <a:t>AND Maths &amp; stats &gt; 3.55</a:t>
            </a:r>
            <a:endParaRPr lang="en-US" sz="1400" dirty="0"/>
          </a:p>
          <a:p>
            <a:pPr indent="0" marL="0">
              <a:buNone/>
            </a:pPr>
            <a:r>
              <a:rPr lang="en-US" sz="1400" dirty="0">
                <a:solidFill>
                  <a:schemeClr val="tx1"/>
                </a:solidFill>
              </a:rPr>
              <a:t>AND AI &amp; ML &gt; 4.0</a:t>
            </a:r>
            <a:endParaRPr lang="en-US" sz="1400" dirty="0"/>
          </a:p>
          <a:p>
            <a:pPr indent="0" marL="0">
              <a:buNone/>
            </a:pPr>
            <a:r>
              <a:rPr lang="en-US" sz="1400" b="1" dirty="0">
                <a:solidFill>
                  <a:schemeClr val="tx1"/>
                </a:solidFill>
              </a:rPr>
              <a:t>→ high hike</a:t>
            </a:r>
            <a:endParaRPr lang="en-US" sz="1400" dirty="0"/>
          </a:p>
        </p:txBody>
      </p:sp>
      <p:sp>
        <p:nvSpPr>
          <p:cNvPr id="9" name="Text 6"/>
          <p:cNvSpPr txBox="1"/>
          <p:nvPr/>
        </p:nvSpPr>
        <p:spPr>
          <a:xfrm>
            <a:off x="5943600" y="3520440"/>
            <a:ext cx="2743200" cy="1097280"/>
          </a:xfrm>
          <a:prstGeom prst="rect">
            <a:avLst/>
          </a:prstGeom>
          <a:noFill/>
          <a:ln/>
        </p:spPr>
        <p:txBody>
          <a:bodyPr wrap="square" lIns="0" tIns="0" rIns="0" bIns="0" rtlCol="0" anchor="t"/>
          <a:lstStyle/>
          <a:p>
            <a:pPr indent="0" marL="0">
              <a:spcAft>
                <a:spcPts val="800"/>
              </a:spcAft>
              <a:buNone/>
            </a:pPr>
            <a:r>
              <a:rPr lang="en-US" sz="1300" b="1" dirty="0">
                <a:solidFill>
                  <a:schemeClr val="tx1"/>
                </a:solidFill>
              </a:rPr>
              <a:t>Coding alone: n.s.</a:t>
            </a:r>
            <a:pPr indent="0" marL="0">
              <a:spcAft>
                <a:spcPts val="800"/>
              </a:spcAft>
              <a:buNone/>
            </a:pPr>
            <a:r>
              <a:rPr lang="en-US" sz="1300" dirty="0">
                <a:solidFill>
                  <a:schemeClr val="tx1"/>
                </a:solidFill>
              </a:rPr>
              <a:t> (p = 0.19)</a:t>
            </a:r>
            <a:endParaRPr lang="en-US" sz="1300" dirty="0"/>
          </a:p>
          <a:p>
            <a:pPr indent="0" marL="0">
              <a:spcAft>
                <a:spcPts val="800"/>
              </a:spcAft>
              <a:buNone/>
            </a:pPr>
            <a:r>
              <a:rPr lang="en-US" sz="1300" b="1" dirty="0">
                <a:solidFill>
                  <a:schemeClr val="tx1"/>
                </a:solidFill>
              </a:rPr>
              <a:t>+1 SD maths ≈ 4× the odds</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2400" b="1" dirty="0">
                <a:solidFill>
                  <a:schemeClr val="tx1"/>
                </a:solidFill>
                <a:latin typeface="Cambria" pitchFamily="34" charset="0"/>
                <a:ea typeface="Cambria" pitchFamily="34" charset="-122"/>
                <a:cs typeface="Cambria" pitchFamily="34" charset="-120"/>
              </a:rPr>
              <a:t>Q5 · Seniors succeed on conscientiousness and openness</a:t>
            </a:r>
            <a:endParaRPr lang="en-US" sz="2400" dirty="0"/>
          </a:p>
        </p:txBody>
      </p:sp>
      <p:sp>
        <p:nvSpPr>
          <p:cNvPr id="3" name="tag Q5"/>
          <p:cNvSpPr txBox="1"/>
          <p:nvPr/>
        </p:nvSpPr>
        <p:spPr>
          <a:xfrm>
            <a:off x="457200" y="1024128"/>
            <a:ext cx="566928" cy="292608"/>
          </a:xfrm>
          <a:prstGeom prst="roundRect">
            <a:avLst>
              <a:gd name="adj" fmla="val 37500"/>
            </a:avLst>
          </a:prstGeom>
          <a:solidFill>
            <a:schemeClr val="accent2"/>
          </a:solidFill>
          <a:ln/>
        </p:spPr>
        <p:txBody>
          <a:bodyPr wrap="square" lIns="0" tIns="0" rIns="0" bIns="0" rtlCol="0" anchor="ctr"/>
          <a:lstStyle/>
          <a:p>
            <a:pPr algn="ctr" indent="0" marL="0">
              <a:buNone/>
            </a:pPr>
            <a:r>
              <a:rPr lang="en-US" sz="1100" b="1" dirty="0">
                <a:solidFill>
                  <a:schemeClr val="bg1"/>
                </a:solidFill>
              </a:rPr>
              <a:t>Q5</a:t>
            </a:r>
            <a:endParaRPr lang="en-US" sz="1100" dirty="0"/>
          </a:p>
        </p:txBody>
      </p:sp>
      <p:graphicFrame>
        <p:nvGraphicFramePr>
          <p:cNvPr id="4" name="Chart 0" descr=""/>
          <p:cNvGraphicFramePr/>
          <p:nvPr/>
        </p:nvGraphicFramePr>
        <p:xfrm>
          <a:off x="457200" y="1371600"/>
          <a:ext cx="5120640" cy="27432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206240"/>
            <a:ext cx="5120640" cy="365760"/>
          </a:xfrm>
          <a:prstGeom prst="rect">
            <a:avLst/>
          </a:prstGeom>
          <a:noFill/>
          <a:ln/>
        </p:spPr>
        <p:txBody>
          <a:bodyPr wrap="square" lIns="0" tIns="0" rIns="0" bIns="0" rtlCol="0" anchor="ctr"/>
          <a:lstStyle/>
          <a:p>
            <a:pPr indent="0" marL="0">
              <a:buNone/>
            </a:pPr>
            <a:r>
              <a:rPr lang="en-US" sz="1100" dirty="0">
                <a:solidFill>
                  <a:schemeClr val="tx2"/>
                </a:solidFill>
              </a:rPr>
              <a:t>161 seniors · linear logit CV AUC 0.96 · with squared terms 0.975 · accuracy 93% vs 53%</a:t>
            </a:r>
            <a:endParaRPr lang="en-US" sz="1100" dirty="0"/>
          </a:p>
        </p:txBody>
      </p:sp>
      <p:sp>
        <p:nvSpPr>
          <p:cNvPr id="6" name="Text 3"/>
          <p:cNvSpPr txBox="1"/>
          <p:nvPr/>
        </p:nvSpPr>
        <p:spPr>
          <a:xfrm>
            <a:off x="5943600" y="1371600"/>
            <a:ext cx="2743200" cy="68580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89%</a:t>
            </a:r>
            <a:endParaRPr lang="en-US" sz="4000" dirty="0"/>
          </a:p>
        </p:txBody>
      </p:sp>
      <p:sp>
        <p:nvSpPr>
          <p:cNvPr id="7" name="Text 4"/>
          <p:cNvSpPr txBox="1"/>
          <p:nvPr/>
        </p:nvSpPr>
        <p:spPr>
          <a:xfrm>
            <a:off x="5943600" y="2057400"/>
            <a:ext cx="2743200" cy="548640"/>
          </a:xfrm>
          <a:prstGeom prst="rect">
            <a:avLst/>
          </a:prstGeom>
          <a:noFill/>
          <a:ln/>
        </p:spPr>
        <p:txBody>
          <a:bodyPr wrap="square" lIns="0" tIns="0" rIns="0" bIns="0" rtlCol="0" anchor="t"/>
          <a:lstStyle/>
          <a:p>
            <a:pPr indent="0" marL="0">
              <a:buNone/>
            </a:pPr>
            <a:r>
              <a:rPr lang="en-US" sz="1200" dirty="0">
                <a:solidFill>
                  <a:schemeClr val="tx2"/>
                </a:solidFill>
              </a:rPr>
              <a:t>success rate of the 'driven achievers' archetype (n = 88); two other archetypes never succeed</a:t>
            </a:r>
            <a:endParaRPr lang="en-US" sz="1200" dirty="0"/>
          </a:p>
        </p:txBody>
      </p:sp>
      <p:sp>
        <p:nvSpPr>
          <p:cNvPr id="8" name="Text 5"/>
          <p:cNvSpPr txBox="1"/>
          <p:nvPr/>
        </p:nvSpPr>
        <p:spPr>
          <a:xfrm>
            <a:off x="5943600" y="2880360"/>
            <a:ext cx="2743200" cy="1737360"/>
          </a:xfrm>
          <a:prstGeom prst="rect">
            <a:avLst/>
          </a:prstGeom>
          <a:noFill/>
          <a:ln/>
        </p:spPr>
        <p:txBody>
          <a:bodyPr wrap="square" lIns="0" tIns="0" rIns="0" bIns="0" rtlCol="0" anchor="t"/>
          <a:lstStyle/>
          <a:p>
            <a:pPr indent="0" marL="0">
              <a:spcAft>
                <a:spcPts val="800"/>
              </a:spcAft>
              <a:buNone/>
            </a:pPr>
            <a:r>
              <a:rPr lang="en-US" sz="1300" b="1" dirty="0">
                <a:solidFill>
                  <a:schemeClr val="tx1"/>
                </a:solidFill>
              </a:rPr>
              <a:t>Rule:</a:t>
            </a:r>
            <a:pPr indent="0" marL="0">
              <a:spcAft>
                <a:spcPts val="800"/>
              </a:spcAft>
              <a:buNone/>
            </a:pPr>
            <a:r>
              <a:rPr lang="en-US" sz="1300" dirty="0">
                <a:solidFill>
                  <a:schemeClr val="tx1"/>
                </a:solidFill>
              </a:rPr>
              <a:t> Openness &gt; 38.5 AND Conscientiousness &gt; 36.5</a:t>
            </a:r>
            <a:endParaRPr lang="en-US" sz="1300" dirty="0"/>
          </a:p>
          <a:p>
            <a:pPr indent="0" marL="0">
              <a:spcAft>
                <a:spcPts val="800"/>
              </a:spcAft>
              <a:buNone/>
            </a:pPr>
            <a:r>
              <a:rPr lang="en-US" sz="1300" b="1" dirty="0">
                <a:solidFill>
                  <a:schemeClr val="tx1"/>
                </a:solidFill>
              </a:rPr>
              <a:t>Descriptive of this sample</a:t>
            </a:r>
            <a:pPr indent="0" marL="0">
              <a:spcAft>
                <a:spcPts val="800"/>
              </a:spcAft>
              <a:buNone/>
            </a:pPr>
            <a:r>
              <a:rPr lang="en-US" sz="1300" dirty="0">
                <a:solidFill>
                  <a:schemeClr val="tx1"/>
                </a:solidFill>
              </a:rPr>
              <a:t>, not a hiring test</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2400" b="1" dirty="0">
                <a:solidFill>
                  <a:schemeClr val="tx1"/>
                </a:solidFill>
                <a:latin typeface="Cambria" pitchFamily="34" charset="0"/>
                <a:ea typeface="Cambria" pitchFamily="34" charset="-122"/>
                <a:cs typeface="Cambria" pitchFamily="34" charset="-120"/>
              </a:rPr>
              <a:t>Q5 · More is not always better: every trait has a sweet spot</a:t>
            </a:r>
            <a:endParaRPr lang="en-US" sz="2400" dirty="0"/>
          </a:p>
        </p:txBody>
      </p:sp>
      <p:sp>
        <p:nvSpPr>
          <p:cNvPr id="3" name="tag Q5"/>
          <p:cNvSpPr txBox="1"/>
          <p:nvPr/>
        </p:nvSpPr>
        <p:spPr>
          <a:xfrm>
            <a:off x="457200" y="1024128"/>
            <a:ext cx="566928" cy="292608"/>
          </a:xfrm>
          <a:prstGeom prst="roundRect">
            <a:avLst>
              <a:gd name="adj" fmla="val 37500"/>
            </a:avLst>
          </a:prstGeom>
          <a:solidFill>
            <a:schemeClr val="accent2"/>
          </a:solidFill>
          <a:ln/>
        </p:spPr>
        <p:txBody>
          <a:bodyPr wrap="square" lIns="0" tIns="0" rIns="0" bIns="0" rtlCol="0" anchor="ctr"/>
          <a:lstStyle/>
          <a:p>
            <a:pPr algn="ctr" indent="0" marL="0">
              <a:buNone/>
            </a:pPr>
            <a:r>
              <a:rPr lang="en-US" sz="1100" b="1" dirty="0">
                <a:solidFill>
                  <a:schemeClr val="bg1"/>
                </a:solidFill>
              </a:rPr>
              <a:t>Q5</a:t>
            </a:r>
            <a:endParaRPr lang="en-US" sz="1100" dirty="0"/>
          </a:p>
        </p:txBody>
      </p:sp>
      <p:pic>
        <p:nvPicPr>
          <p:cNvPr id="4" name="Image 0" descr="/home/claude/svl/figures/report/f10_sweet_spots.png">    </p:cNvPr>
          <p:cNvPicPr>
            <a:picLocks noChangeAspect="1"/>
          </p:cNvPicPr>
          <p:nvPr/>
        </p:nvPicPr>
        <p:blipFill>
          <a:blip r:embed="rId1"/>
          <a:stretch>
            <a:fillRect/>
          </a:stretch>
        </p:blipFill>
        <p:spPr>
          <a:xfrm>
            <a:off x="1612509" y="1417320"/>
            <a:ext cx="5918982" cy="2194560"/>
          </a:xfrm>
          <a:prstGeom prst="rect">
            <a:avLst/>
          </a:prstGeom>
        </p:spPr>
      </p:pic>
      <p:sp>
        <p:nvSpPr>
          <p:cNvPr id="5" name="Text 2"/>
          <p:cNvSpPr txBox="1"/>
          <p:nvPr/>
        </p:nvSpPr>
        <p:spPr>
          <a:xfrm>
            <a:off x="457200" y="3794760"/>
            <a:ext cx="8229600" cy="82296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Optima: </a:t>
            </a:r>
            <a:pPr indent="0" marL="0">
              <a:spcAft>
                <a:spcPts val="800"/>
              </a:spcAft>
              <a:buNone/>
            </a:pPr>
            <a:r>
              <a:rPr lang="en-US" sz="1400" dirty="0">
                <a:solidFill>
                  <a:schemeClr val="tx1"/>
                </a:solidFill>
              </a:rPr>
              <a:t>conscientiousness ≈ 57, openness ≈ 53, extraversion ≈ 51, agreeableness ≈ 49, neuroticism ≈ 40 (scale 17–68). Squared terms lift CV AUC 0.964 → 0.975 (p &lt; 0.001): aim high, then plateau.</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2400" b="1" dirty="0">
                <a:solidFill>
                  <a:schemeClr val="tx1"/>
                </a:solidFill>
                <a:latin typeface="Cambria" pitchFamily="34" charset="0"/>
                <a:ea typeface="Cambria" pitchFamily="34" charset="-122"/>
                <a:cs typeface="Cambria" pitchFamily="34" charset="-120"/>
              </a:rPr>
              <a:t>The dashboard: our results as a decision tool</a:t>
            </a:r>
            <a:endParaRPr lang="en-US" sz="2400" dirty="0"/>
          </a:p>
        </p:txBody>
      </p:sp>
      <p:pic>
        <p:nvPicPr>
          <p:cNvPr id="3" name="Image 0" descr="/home/claude/svl/docs/screenshots/08_salary.png">    </p:cNvPr>
          <p:cNvPicPr>
            <a:picLocks noChangeAspect="1"/>
          </p:cNvPicPr>
          <p:nvPr/>
        </p:nvPicPr>
        <p:blipFill>
          <a:blip r:embed="rId1"/>
          <a:stretch>
            <a:fillRect/>
          </a:stretch>
        </p:blipFill>
        <p:spPr>
          <a:xfrm>
            <a:off x="658368" y="1143000"/>
            <a:ext cx="3621024" cy="2514600"/>
          </a:xfrm>
          <a:prstGeom prst="rect">
            <a:avLst/>
          </a:prstGeom>
        </p:spPr>
      </p:pic>
      <p:pic>
        <p:nvPicPr>
          <p:cNvPr id="4" name="Image 1" descr="/home/claude/svl/docs/screenshots/06_hike.png">    </p:cNvPr>
          <p:cNvPicPr>
            <a:picLocks noChangeAspect="1"/>
          </p:cNvPicPr>
          <p:nvPr/>
        </p:nvPicPr>
        <p:blipFill>
          <a:blip r:embed="rId2"/>
          <a:stretch>
            <a:fillRect/>
          </a:stretch>
        </p:blipFill>
        <p:spPr>
          <a:xfrm>
            <a:off x="4864608" y="1143000"/>
            <a:ext cx="3621024" cy="2514600"/>
          </a:xfrm>
          <a:prstGeom prst="rect">
            <a:avLst/>
          </a:prstGeom>
        </p:spPr>
      </p:pic>
      <p:sp>
        <p:nvSpPr>
          <p:cNvPr id="5" name="Text 1"/>
          <p:cNvSpPr txBox="1"/>
          <p:nvPr/>
        </p:nvSpPr>
        <p:spPr>
          <a:xfrm>
            <a:off x="457200" y="3749040"/>
            <a:ext cx="4023360" cy="274320"/>
          </a:xfrm>
          <a:prstGeom prst="rect">
            <a:avLst/>
          </a:prstGeom>
          <a:noFill/>
          <a:ln/>
        </p:spPr>
        <p:txBody>
          <a:bodyPr wrap="square" lIns="0" tIns="0" rIns="0" bIns="0" rtlCol="0" anchor="ctr"/>
          <a:lstStyle/>
          <a:p>
            <a:pPr algn="ctr" indent="0" marL="0">
              <a:buNone/>
            </a:pPr>
            <a:r>
              <a:rPr lang="en-US" sz="1200" b="1" dirty="0">
                <a:solidFill>
                  <a:schemeClr val="tx1"/>
                </a:solidFill>
              </a:rPr>
              <a:t>Salary estimator — 'same person, different label'</a:t>
            </a:r>
            <a:endParaRPr lang="en-US" sz="1200" dirty="0"/>
          </a:p>
        </p:txBody>
      </p:sp>
      <p:sp>
        <p:nvSpPr>
          <p:cNvPr id="6" name="Text 2"/>
          <p:cNvSpPr txBox="1"/>
          <p:nvPr/>
        </p:nvSpPr>
        <p:spPr>
          <a:xfrm>
            <a:off x="4663440" y="3749040"/>
            <a:ext cx="4023360" cy="274320"/>
          </a:xfrm>
          <a:prstGeom prst="rect">
            <a:avLst/>
          </a:prstGeom>
          <a:noFill/>
          <a:ln/>
        </p:spPr>
        <p:txBody>
          <a:bodyPr wrap="square" lIns="0" tIns="0" rIns="0" bIns="0" rtlCol="0" anchor="ctr"/>
          <a:lstStyle/>
          <a:p>
            <a:pPr algn="ctr" indent="0" marL="0">
              <a:buNone/>
            </a:pPr>
            <a:r>
              <a:rPr lang="en-US" sz="1200" b="1" dirty="0">
                <a:solidFill>
                  <a:schemeClr val="tx1"/>
                </a:solidFill>
              </a:rPr>
              <a:t>Junior hike simulator — shows the biggest lever</a:t>
            </a:r>
            <a:endParaRPr lang="en-US" sz="1200" dirty="0"/>
          </a:p>
        </p:txBody>
      </p:sp>
      <p:sp>
        <p:nvSpPr>
          <p:cNvPr id="7" name="Text 3"/>
          <p:cNvSpPr txBox="1"/>
          <p:nvPr/>
        </p:nvSpPr>
        <p:spPr>
          <a:xfrm>
            <a:off x="457200" y="4160520"/>
            <a:ext cx="8229600" cy="320040"/>
          </a:xfrm>
          <a:prstGeom prst="rect">
            <a:avLst/>
          </a:prstGeom>
          <a:noFill/>
          <a:ln/>
        </p:spPr>
        <p:txBody>
          <a:bodyPr wrap="square" lIns="0" tIns="0" rIns="0" bIns="0" rtlCol="0" anchor="ctr"/>
          <a:lstStyle/>
          <a:p>
            <a:pPr algn="ctr" indent="0" marL="0">
              <a:buNone/>
            </a:pPr>
            <a:r>
              <a:rPr lang="en-US" sz="1200" dirty="0">
                <a:solidFill>
                  <a:schemeClr val="tx2"/>
                </a:solidFill>
              </a:rPr>
              <a:t>8 pages · 3 trained models · Streamlit · `python run_all.py` then `streamlit run app.py`</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2400" b="1" dirty="0">
                <a:solidFill>
                  <a:schemeClr val="tx1"/>
                </a:solidFill>
                <a:latin typeface="Cambria" pitchFamily="34" charset="0"/>
                <a:ea typeface="Cambria" pitchFamily="34" charset="-122"/>
                <a:cs typeface="Cambria" pitchFamily="34" charset="-120"/>
              </a:rPr>
              <a:t>Hypotheses: what held and what did not</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548640"/>
                <a:gridCol w="3566160"/>
                <a:gridCol w="1280160"/>
                <a:gridCol w="2834640"/>
              </a:tblGrid>
              <a:tr h="502920">
                <a:tc>
                  <a:txBody>
                    <a:bodyPr/>
                    <a:lstStyle/>
                    <a:p>
                      <a:pPr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solidFill>
                      <a:srgbClr val="1B1F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Hypothesis</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solidFill>
                      <a:srgbClr val="1B1F3B"/>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Verdict</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solidFill>
                      <a:srgbClr val="1B1F3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Evidence</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solidFill>
                      <a:srgbClr val="1B1F3B"/>
                    </a:solidFill>
                  </a:tcPr>
                </a:tc>
              </a:tr>
              <a:tr h="502920">
                <a:tc>
                  <a:txBody>
                    <a:bodyPr/>
                    <a:lstStyle/>
                    <a:p>
                      <a:pPr indent="0" marL="0">
                        <a:buNone/>
                      </a:pPr>
                      <a:r>
                        <a:rPr lang="en-US" sz="1400" b="1" dirty="0">
                          <a:solidFill>
                            <a:srgbClr val="1B1F3B"/>
                          </a:solidFill>
                          <a:latin typeface="Calibri" pitchFamily="34" charset="0"/>
                          <a:ea typeface="Calibri" pitchFamily="34" charset="-122"/>
                          <a:cs typeface="Calibri" pitchFamily="34" charset="-120"/>
                        </a:rPr>
                        <a:t>H1</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Advanced skills carry the largest premiums</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Partly</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solidFill>
                      <a:srgbClr val="EDA100"/>
                    </a:solidFill>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Java, SQL lead; big data n.s.</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tcPr>
                </a:tc>
              </a:tr>
              <a:tr h="502920">
                <a:tc>
                  <a:txBody>
                    <a:bodyPr/>
                    <a:lstStyle/>
                    <a:p>
                      <a:pPr indent="0" marL="0">
                        <a:buNone/>
                      </a:pPr>
                      <a:r>
                        <a:rPr lang="en-US" sz="1400" b="1" dirty="0">
                          <a:solidFill>
                            <a:srgbClr val="1B1F3B"/>
                          </a:solidFill>
                          <a:latin typeface="Calibri" pitchFamily="34" charset="0"/>
                          <a:ea typeface="Calibri" pitchFamily="34" charset="-122"/>
                          <a:cs typeface="Calibri" pitchFamily="34" charset="-120"/>
                        </a:rPr>
                        <a:t>H2</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Titles are 'skills in disguise'</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Rejected</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solidFill>
                      <a:srgbClr val="E34948"/>
                    </a:solidFill>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62% of premium survives</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tcPr>
                </a:tc>
              </a:tr>
              <a:tr h="502920">
                <a:tc>
                  <a:txBody>
                    <a:bodyPr/>
                    <a:lstStyle/>
                    <a:p>
                      <a:pPr indent="0" marL="0">
                        <a:buNone/>
                      </a:pPr>
                      <a:r>
                        <a:rPr lang="en-US" sz="1400" b="1" dirty="0">
                          <a:solidFill>
                            <a:srgbClr val="1B1F3B"/>
                          </a:solidFill>
                          <a:latin typeface="Calibri" pitchFamily="34" charset="0"/>
                          <a:ea typeface="Calibri" pitchFamily="34" charset="-122"/>
                          <a:cs typeface="Calibri" pitchFamily="34" charset="-120"/>
                        </a:rPr>
                        <a:t>H3</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Pay growth slows after early years</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Supported</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solidFill>
                      <a:srgbClr val="1BAF7A"/>
                    </a:solidFill>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Break at 6.5 yrs</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tcPr>
                </a:tc>
              </a:tr>
              <a:tr h="502920">
                <a:tc>
                  <a:txBody>
                    <a:bodyPr/>
                    <a:lstStyle/>
                    <a:p>
                      <a:pPr indent="0" marL="0">
                        <a:buNone/>
                      </a:pPr>
                      <a:r>
                        <a:rPr lang="en-US" sz="1400" b="1" dirty="0">
                          <a:solidFill>
                            <a:srgbClr val="1B1F3B"/>
                          </a:solidFill>
                          <a:latin typeface="Calibri" pitchFamily="34" charset="0"/>
                          <a:ea typeface="Calibri" pitchFamily="34" charset="-122"/>
                          <a:cs typeface="Calibri" pitchFamily="34" charset="-120"/>
                        </a:rPr>
                        <a:t>H4</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Coding and AI/ML drive junior hikes</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Rejected</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solidFill>
                      <a:srgbClr val="E34948"/>
                    </a:solidFill>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Maths &amp; storytelling lead</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tcPr>
                </a:tc>
              </a:tr>
              <a:tr h="502920">
                <a:tc>
                  <a:txBody>
                    <a:bodyPr/>
                    <a:lstStyle/>
                    <a:p>
                      <a:pPr indent="0" marL="0">
                        <a:buNone/>
                      </a:pPr>
                      <a:r>
                        <a:rPr lang="en-US" sz="1400" b="1" dirty="0">
                          <a:solidFill>
                            <a:srgbClr val="1B1F3B"/>
                          </a:solidFill>
                          <a:latin typeface="Calibri" pitchFamily="34" charset="0"/>
                          <a:ea typeface="Calibri" pitchFamily="34" charset="-122"/>
                          <a:cs typeface="Calibri" pitchFamily="34" charset="-120"/>
                        </a:rPr>
                        <a:t>H5</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Success rises steadily with C and O</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Partly</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solidFill>
                      <a:srgbClr val="EDA100"/>
                    </a:solidFill>
                  </a:tcPr>
                </a:tc>
                <a:tc>
                  <a:txBody>
                    <a:bodyPr/>
                    <a:lstStyle/>
                    <a:p>
                      <a:pPr indent="0" marL="0">
                        <a:buNone/>
                      </a:pPr>
                      <a:r>
                        <a:rPr lang="en-US" sz="1400" dirty="0">
                          <a:solidFill>
                            <a:srgbClr val="1B1F3B"/>
                          </a:solidFill>
                          <a:latin typeface="Calibri" pitchFamily="34" charset="0"/>
                          <a:ea typeface="Calibri" pitchFamily="34" charset="-122"/>
                          <a:cs typeface="Calibri" pitchFamily="34" charset="-120"/>
                        </a:rPr>
                        <a:t>Sweet spots for all 5 traits</a:t>
                      </a:r>
                      <a:endParaRPr lang="en-US" sz="1400" dirty="0">
                        <a:latin typeface="Calibri" charset="0"/>
                        <a:ea typeface="Calibri" charset="0"/>
                        <a:cs typeface="Calibri" charset="0"/>
                      </a:endParaRPr>
                    </a:p>
                  </a:txBody>
                  <a:tcPr marL="91440" marR="91440" marT="45720" marB="45720" anchor="ctr">
                    <a:lnL w="9525" cap="flat" cmpd="sng" algn="ctr">
                      <a:solidFill>
                        <a:srgbClr val="D5D8E2"/>
                      </a:solidFill>
                      <a:prstDash val="solid"/>
                      <a:round/>
                      <a:headEnd type="none" w="med" len="med"/>
                      <a:tailEnd type="none" w="med" len="med"/>
                    </a:lnL>
                    <a:lnR w="9525" cap="flat" cmpd="sng" algn="ctr">
                      <a:solidFill>
                        <a:srgbClr val="D5D8E2"/>
                      </a:solidFill>
                      <a:prstDash val="solid"/>
                      <a:round/>
                      <a:headEnd type="none" w="med" len="med"/>
                      <a:tailEnd type="none" w="med" len="med"/>
                    </a:lnR>
                    <a:lnT w="9525" cap="flat" cmpd="sng" algn="ctr">
                      <a:solidFill>
                        <a:srgbClr val="D5D8E2"/>
                      </a:solidFill>
                      <a:prstDash val="solid"/>
                      <a:round/>
                      <a:headEnd type="none" w="med" len="med"/>
                      <a:tailEnd type="none" w="med" len="med"/>
                    </a:lnT>
                    <a:lnB w="9525" cap="flat" cmpd="sng" algn="ctr">
                      <a:solidFill>
                        <a:srgbClr val="D5D8E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188720"/>
          </a:xfrm>
          <a:prstGeom prst="rect">
            <a:avLst/>
          </a:prstGeom>
          <a:noFill/>
          <a:ln/>
        </p:spPr>
        <p:txBody>
          <a:bodyPr wrap="square"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Skills open the door. Labels and experience set the price.</a:t>
            </a:r>
            <a:endParaRPr lang="en-US" sz="4400" dirty="0"/>
          </a:p>
        </p:txBody>
      </p:sp>
      <p:sp>
        <p:nvSpPr>
          <p:cNvPr id="3" name="Text 0"/>
          <p:cNvSpPr/>
          <p:nvPr>
            <p:ph idx="101" type="body" hasCustomPrompt="1"/>
          </p:nvPr>
        </p:nvSpPr>
        <p:spPr>
          <a:xfrm>
            <a:off x="548640" y="2697480"/>
            <a:ext cx="8046720" cy="1097280"/>
          </a:xfrm>
          <a:prstGeom prst="rect">
            <a:avLst/>
          </a:prstGeom>
          <a:noFill/>
          <a:ln/>
        </p:spPr>
        <p:txBody>
          <a:bodyPr wrap="square" rtlCol="0" anchor="t"/>
          <a:lstStyle/>
          <a:p>
            <a:pPr algn="l" marL="342900" indent="-342900">
              <a:buSzPct val="100000"/>
              <a:buChar char="•"/>
            </a:pPr>
            <a:r>
              <a:rPr lang="en-US" sz="1800" dirty="0">
                <a:solidFill>
                  <a:srgbClr val="D9DCE8"/>
                </a:solidFill>
                <a:latin typeface="Calibri" pitchFamily="34" charset="0"/>
                <a:ea typeface="Calibri" pitchFamily="34" charset="-122"/>
                <a:cs typeface="Calibri" pitchFamily="34" charset="-120"/>
              </a:rPr>
              <a:t>Market: the label pays — 62% of title premiums survive 30 skill controls; 'Senior' alone is worth 14–36%.</a:t>
            </a:r>
            <a:endParaRPr lang="en-US" sz="1800" dirty="0"/>
          </a:p>
          <a:p>
            <a:pPr algn="l" marL="342900" indent="-342900">
              <a:buSzPct val="100000"/>
              <a:buChar char="•"/>
            </a:pPr>
            <a:r>
              <a:rPr lang="en-US" sz="1800" dirty="0">
                <a:solidFill>
                  <a:srgbClr val="D9DCE8"/>
                </a:solidFill>
                <a:latin typeface="Calibri" pitchFamily="34" charset="0"/>
                <a:ea typeface="Calibri" pitchFamily="34" charset="-122"/>
                <a:cs typeface="Calibri" pitchFamily="34" charset="-120"/>
              </a:rPr>
              <a:t>Career: pay grows ~36% a year until 6.5 years — the window for moving up the ladder.</a:t>
            </a:r>
            <a:endParaRPr lang="en-US" sz="1800" dirty="0"/>
          </a:p>
          <a:p>
            <a:pPr algn="l" marL="342900" indent="-342900">
              <a:buSzPct val="100000"/>
              <a:buChar char="•"/>
            </a:pPr>
            <a:r>
              <a:rPr lang="en-US" sz="1800" dirty="0">
                <a:solidFill>
                  <a:srgbClr val="D9DCE8"/>
                </a:solidFill>
                <a:latin typeface="Calibri" pitchFamily="34" charset="0"/>
                <a:ea typeface="Calibri" pitchFamily="34" charset="-122"/>
                <a:cs typeface="Calibri" pitchFamily="34" charset="-120"/>
              </a:rPr>
              <a:t>Inside the firm: maths, storytelling, conscientiousness and openness are rewarded.</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2400" b="1" dirty="0">
                <a:solidFill>
                  <a:schemeClr val="tx1"/>
                </a:solidFill>
                <a:latin typeface="Cambria" pitchFamily="34" charset="0"/>
                <a:ea typeface="Cambria" pitchFamily="34" charset="-122"/>
                <a:cs typeface="Cambria" pitchFamily="34" charset="-120"/>
              </a:rPr>
              <a:t>What each stakeholder should do</a:t>
            </a:r>
            <a:endParaRPr lang="en-US" sz="2400" dirty="0"/>
          </a:p>
        </p:txBody>
      </p:sp>
      <p:sp>
        <p:nvSpPr>
          <p:cNvPr id="3" name="Shape 1"/>
          <p:cNvSpPr/>
          <p:nvPr/>
        </p:nvSpPr>
        <p:spPr>
          <a:xfrm>
            <a:off x="457200" y="1143000"/>
            <a:ext cx="2606040" cy="3429000"/>
          </a:xfrm>
          <a:prstGeom prst="roundRect">
            <a:avLst>
              <a:gd name="adj" fmla="val 2807"/>
            </a:avLst>
          </a:prstGeom>
          <a:solidFill>
            <a:schemeClr val="bg2"/>
          </a:solidFill>
          <a:ln w="12700">
            <a:solidFill>
              <a:schemeClr val="bg2"/>
            </a:solidFill>
            <a:prstDash val="solid"/>
          </a:ln>
        </p:spPr>
      </p:sp>
      <p:sp>
        <p:nvSpPr>
          <p:cNvPr id="4" name="Text 2"/>
          <p:cNvSpPr txBox="1"/>
          <p:nvPr/>
        </p:nvSpPr>
        <p:spPr>
          <a:xfrm>
            <a:off x="640080" y="1261872"/>
            <a:ext cx="2240280" cy="365760"/>
          </a:xfrm>
          <a:prstGeom prst="rect">
            <a:avLst/>
          </a:prstGeom>
          <a:noFill/>
          <a:ln/>
        </p:spPr>
        <p:txBody>
          <a:bodyPr wrap="square" lIns="0" tIns="0" rIns="0" bIns="0" rtlCol="0" anchor="ctr"/>
          <a:lstStyle/>
          <a:p>
            <a:pPr indent="0" marL="0">
              <a:buNone/>
            </a:pPr>
            <a:r>
              <a:rPr lang="en-US" sz="1700" b="1" dirty="0">
                <a:solidFill>
                  <a:schemeClr val="accent2"/>
                </a:solidFill>
              </a:rPr>
              <a:t>Students</a:t>
            </a:r>
            <a:endParaRPr lang="en-US" sz="1700" dirty="0"/>
          </a:p>
        </p:txBody>
      </p:sp>
      <p:sp>
        <p:nvSpPr>
          <p:cNvPr id="5" name="Text 3"/>
          <p:cNvSpPr txBox="1"/>
          <p:nvPr/>
        </p:nvSpPr>
        <p:spPr>
          <a:xfrm>
            <a:off x="640080" y="1737360"/>
            <a:ext cx="2240280" cy="2743200"/>
          </a:xfrm>
          <a:prstGeom prst="rect">
            <a:avLst/>
          </a:prstGeom>
          <a:noFill/>
          <a:ln/>
        </p:spPr>
        <p:txBody>
          <a:bodyPr wrap="square" lIns="0" tIns="0" rIns="0" bIns="0" rtlCol="0" anchor="t"/>
          <a:lstStyle/>
          <a:p>
            <a:pPr indent="0" marL="0">
              <a:spcAft>
                <a:spcPts val="800"/>
              </a:spcAft>
              <a:buNone/>
            </a:pPr>
            <a:r>
              <a:rPr lang="en-US" sz="1300" dirty="0">
                <a:solidFill>
                  <a:schemeClr val="tx1"/>
                </a:solidFill>
              </a:rPr>
              <a:t>Aim for the better-paid label your skills justify</a:t>
            </a:r>
            <a:endParaRPr lang="en-US" sz="1300" dirty="0"/>
          </a:p>
          <a:p>
            <a:pPr indent="0" marL="0">
              <a:spcAft>
                <a:spcPts val="800"/>
              </a:spcAft>
              <a:buNone/>
            </a:pPr>
            <a:r>
              <a:rPr lang="en-US" sz="1300" dirty="0">
                <a:solidFill>
                  <a:schemeClr val="tx1"/>
                </a:solidFill>
              </a:rPr>
              <a:t>Learn SQL, statistics and a production language first</a:t>
            </a:r>
            <a:endParaRPr lang="en-US" sz="1300" dirty="0"/>
          </a:p>
          <a:p>
            <a:pPr indent="0" marL="0">
              <a:spcAft>
                <a:spcPts val="800"/>
              </a:spcAft>
              <a:buNone/>
            </a:pPr>
            <a:r>
              <a:rPr lang="en-US" sz="1300" dirty="0">
                <a:solidFill>
                  <a:schemeClr val="tx1"/>
                </a:solidFill>
              </a:rPr>
              <a:t>Use the first 6 years to climb</a:t>
            </a:r>
            <a:endParaRPr lang="en-US" sz="1300" dirty="0"/>
          </a:p>
          <a:p>
            <a:pPr indent="0" marL="0">
              <a:spcAft>
                <a:spcPts val="800"/>
              </a:spcAft>
              <a:buNone/>
            </a:pPr>
            <a:r>
              <a:rPr lang="en-US" sz="1300" dirty="0">
                <a:solidFill>
                  <a:schemeClr val="tx1"/>
                </a:solidFill>
              </a:rPr>
              <a:t>Practise storytelling</a:t>
            </a:r>
            <a:endParaRPr lang="en-US" sz="1300" dirty="0"/>
          </a:p>
        </p:txBody>
      </p:sp>
      <p:sp>
        <p:nvSpPr>
          <p:cNvPr id="6" name="Shape 4"/>
          <p:cNvSpPr/>
          <p:nvPr/>
        </p:nvSpPr>
        <p:spPr>
          <a:xfrm>
            <a:off x="3246120" y="1143000"/>
            <a:ext cx="2606040" cy="3429000"/>
          </a:xfrm>
          <a:prstGeom prst="roundRect">
            <a:avLst>
              <a:gd name="adj" fmla="val 2807"/>
            </a:avLst>
          </a:prstGeom>
          <a:solidFill>
            <a:schemeClr val="bg2"/>
          </a:solidFill>
          <a:ln w="12700">
            <a:solidFill>
              <a:schemeClr val="bg2"/>
            </a:solidFill>
            <a:prstDash val="solid"/>
          </a:ln>
        </p:spPr>
      </p:sp>
      <p:sp>
        <p:nvSpPr>
          <p:cNvPr id="7" name="Text 5"/>
          <p:cNvSpPr txBox="1"/>
          <p:nvPr/>
        </p:nvSpPr>
        <p:spPr>
          <a:xfrm>
            <a:off x="3429000" y="1261872"/>
            <a:ext cx="2240280" cy="365760"/>
          </a:xfrm>
          <a:prstGeom prst="rect">
            <a:avLst/>
          </a:prstGeom>
          <a:noFill/>
          <a:ln/>
        </p:spPr>
        <p:txBody>
          <a:bodyPr wrap="square" lIns="0" tIns="0" rIns="0" bIns="0" rtlCol="0" anchor="ctr"/>
          <a:lstStyle/>
          <a:p>
            <a:pPr indent="0" marL="0">
              <a:buNone/>
            </a:pPr>
            <a:r>
              <a:rPr lang="en-US" sz="1700" b="1" dirty="0">
                <a:solidFill>
                  <a:schemeClr val="accent1"/>
                </a:solidFill>
              </a:rPr>
              <a:t>Employers &amp; HR</a:t>
            </a:r>
            <a:endParaRPr lang="en-US" sz="1700" dirty="0"/>
          </a:p>
        </p:txBody>
      </p:sp>
      <p:sp>
        <p:nvSpPr>
          <p:cNvPr id="8" name="Text 6"/>
          <p:cNvSpPr txBox="1"/>
          <p:nvPr/>
        </p:nvSpPr>
        <p:spPr>
          <a:xfrm>
            <a:off x="3429000" y="1737360"/>
            <a:ext cx="2240280" cy="2743200"/>
          </a:xfrm>
          <a:prstGeom prst="rect">
            <a:avLst/>
          </a:prstGeom>
          <a:noFill/>
          <a:ln/>
        </p:spPr>
        <p:txBody>
          <a:bodyPr wrap="square" lIns="0" tIns="0" rIns="0" bIns="0" rtlCol="0" anchor="t"/>
          <a:lstStyle/>
          <a:p>
            <a:pPr indent="0" marL="0">
              <a:spcAft>
                <a:spcPts val="800"/>
              </a:spcAft>
              <a:buNone/>
            </a:pPr>
            <a:r>
              <a:rPr lang="en-US" sz="1300" dirty="0">
                <a:solidFill>
                  <a:schemeClr val="tx1"/>
                </a:solidFill>
              </a:rPr>
              <a:t>Audit title-based pay bands</a:t>
            </a:r>
            <a:endParaRPr lang="en-US" sz="1300" dirty="0"/>
          </a:p>
          <a:p>
            <a:pPr indent="0" marL="0">
              <a:spcAft>
                <a:spcPts val="800"/>
              </a:spcAft>
              <a:buNone/>
            </a:pPr>
            <a:r>
              <a:rPr lang="en-US" sz="1300" dirty="0">
                <a:solidFill>
                  <a:schemeClr val="tx1"/>
                </a:solidFill>
              </a:rPr>
              <a:t>Standardise job titles</a:t>
            </a:r>
            <a:endParaRPr lang="en-US" sz="1300" dirty="0"/>
          </a:p>
          <a:p>
            <a:pPr indent="0" marL="0">
              <a:spcAft>
                <a:spcPts val="800"/>
              </a:spcAft>
              <a:buNone/>
            </a:pPr>
            <a:r>
              <a:rPr lang="en-US" sz="1300" dirty="0">
                <a:solidFill>
                  <a:schemeClr val="tx1"/>
                </a:solidFill>
              </a:rPr>
              <a:t>Make storytelling an assessed competency</a:t>
            </a:r>
            <a:endParaRPr lang="en-US" sz="1300" dirty="0"/>
          </a:p>
          <a:p>
            <a:pPr indent="0" marL="0">
              <a:spcAft>
                <a:spcPts val="800"/>
              </a:spcAft>
              <a:buNone/>
            </a:pPr>
            <a:r>
              <a:rPr lang="en-US" sz="1300" dirty="0">
                <a:solidFill>
                  <a:schemeClr val="tx1"/>
                </a:solidFill>
              </a:rPr>
              <a:t>Use personality models for development, not hiring</a:t>
            </a:r>
            <a:endParaRPr lang="en-US" sz="1300" dirty="0"/>
          </a:p>
        </p:txBody>
      </p:sp>
      <p:sp>
        <p:nvSpPr>
          <p:cNvPr id="9" name="Shape 7"/>
          <p:cNvSpPr/>
          <p:nvPr/>
        </p:nvSpPr>
        <p:spPr>
          <a:xfrm>
            <a:off x="6035040" y="1143000"/>
            <a:ext cx="2606040" cy="3429000"/>
          </a:xfrm>
          <a:prstGeom prst="roundRect">
            <a:avLst>
              <a:gd name="adj" fmla="val 2807"/>
            </a:avLst>
          </a:prstGeom>
          <a:solidFill>
            <a:schemeClr val="bg2"/>
          </a:solidFill>
          <a:ln w="12700">
            <a:solidFill>
              <a:schemeClr val="bg2"/>
            </a:solidFill>
            <a:prstDash val="solid"/>
          </a:ln>
        </p:spPr>
      </p:sp>
      <p:sp>
        <p:nvSpPr>
          <p:cNvPr id="10" name="Text 8"/>
          <p:cNvSpPr txBox="1"/>
          <p:nvPr/>
        </p:nvSpPr>
        <p:spPr>
          <a:xfrm>
            <a:off x="6217920" y="1261872"/>
            <a:ext cx="2240280" cy="365760"/>
          </a:xfrm>
          <a:prstGeom prst="rect">
            <a:avLst/>
          </a:prstGeom>
          <a:noFill/>
          <a:ln/>
        </p:spPr>
        <p:txBody>
          <a:bodyPr wrap="square" lIns="0" tIns="0" rIns="0" bIns="0" rtlCol="0" anchor="ctr"/>
          <a:lstStyle/>
          <a:p>
            <a:pPr indent="0" marL="0">
              <a:buNone/>
            </a:pPr>
            <a:r>
              <a:rPr lang="en-US" sz="1700" b="1" dirty="0">
                <a:solidFill>
                  <a:schemeClr val="accent3"/>
                </a:solidFill>
              </a:rPr>
              <a:t>Universities &amp; SAS</a:t>
            </a:r>
            <a:endParaRPr lang="en-US" sz="1700" dirty="0"/>
          </a:p>
        </p:txBody>
      </p:sp>
      <p:sp>
        <p:nvSpPr>
          <p:cNvPr id="11" name="Text 9"/>
          <p:cNvSpPr txBox="1"/>
          <p:nvPr/>
        </p:nvSpPr>
        <p:spPr>
          <a:xfrm>
            <a:off x="6217920" y="1737360"/>
            <a:ext cx="2240280" cy="2743200"/>
          </a:xfrm>
          <a:prstGeom prst="rect">
            <a:avLst/>
          </a:prstGeom>
          <a:noFill/>
          <a:ln/>
        </p:spPr>
        <p:txBody>
          <a:bodyPr wrap="square" lIns="0" tIns="0" rIns="0" bIns="0" rtlCol="0" anchor="t"/>
          <a:lstStyle/>
          <a:p>
            <a:pPr indent="0" marL="0">
              <a:spcAft>
                <a:spcPts val="800"/>
              </a:spcAft>
              <a:buNone/>
            </a:pPr>
            <a:r>
              <a:rPr lang="en-US" sz="1300" dirty="0">
                <a:solidFill>
                  <a:schemeClr val="tx1"/>
                </a:solidFill>
              </a:rPr>
              <a:t>Weight statistics and communication like coding</a:t>
            </a:r>
            <a:endParaRPr lang="en-US" sz="1300" dirty="0"/>
          </a:p>
          <a:p>
            <a:pPr indent="0" marL="0">
              <a:spcAft>
                <a:spcPts val="800"/>
              </a:spcAft>
              <a:buNone/>
            </a:pPr>
            <a:r>
              <a:rPr lang="en-US" sz="1300" dirty="0">
                <a:solidFill>
                  <a:schemeClr val="tx1"/>
                </a:solidFill>
              </a:rPr>
              <a:t>Capstones end in a business presentation</a:t>
            </a:r>
            <a:endParaRPr lang="en-US" sz="1300" dirty="0"/>
          </a:p>
          <a:p>
            <a:pPr indent="0" marL="0">
              <a:spcAft>
                <a:spcPts val="800"/>
              </a:spcAft>
              <a:buNone/>
            </a:pPr>
            <a:r>
              <a:rPr lang="en-US" sz="1300" dirty="0">
                <a:solidFill>
                  <a:schemeClr val="tx1"/>
                </a:solidFill>
              </a:rPr>
              <a:t>Bundle modelling with visual analytics in certifications</a:t>
            </a:r>
            <a:endParaRPr lang="en-US" sz="1300" dirty="0"/>
          </a:p>
          <a:p>
            <a:pPr indent="0" marL="0">
              <a:spcAft>
                <a:spcPts val="800"/>
              </a:spcAft>
              <a:buNone/>
            </a:pPr>
            <a:r>
              <a:rPr lang="en-US" sz="1300" dirty="0">
                <a:solidFill>
                  <a:schemeClr val="tx1"/>
                </a:solidFill>
              </a:rPr>
              <a:t>Promote transparent, skill-based job architecture</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nchor="ctr"/>
          <a:lstStyle/>
          <a:p>
            <a:pPr algn="l" indent="0" marL="0">
              <a:buNone/>
            </a:pPr>
            <a:r>
              <a:rPr lang="en-US" sz="2400" b="1" dirty="0">
                <a:solidFill>
                  <a:schemeClr val="tx1"/>
                </a:solidFill>
                <a:latin typeface="Cambria" pitchFamily="34" charset="0"/>
                <a:ea typeface="Cambria" pitchFamily="34" charset="-122"/>
                <a:cs typeface="Cambria" pitchFamily="34" charset="-120"/>
              </a:rPr>
              <a:t>Limits, next steps — and thank you</a:t>
            </a:r>
            <a:endParaRPr lang="en-US" sz="2400" dirty="0"/>
          </a:p>
        </p:txBody>
      </p:sp>
      <p:sp>
        <p:nvSpPr>
          <p:cNvPr id="3" name="Text 1"/>
          <p:cNvSpPr txBox="1"/>
          <p:nvPr/>
        </p:nvSpPr>
        <p:spPr>
          <a:xfrm>
            <a:off x="457200" y="1188720"/>
            <a:ext cx="3931920" cy="320040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Observational data:</a:t>
            </a:r>
            <a:pPr indent="0" marL="0">
              <a:spcAft>
                <a:spcPts val="800"/>
              </a:spcAft>
              <a:buNone/>
            </a:pPr>
            <a:r>
              <a:rPr lang="en-US" sz="1400" dirty="0">
                <a:solidFill>
                  <a:schemeClr val="tx1"/>
                </a:solidFill>
              </a:rPr>
              <a:t> associations, not causes</a:t>
            </a:r>
            <a:endParaRPr lang="en-US" sz="1400" dirty="0"/>
          </a:p>
          <a:p>
            <a:pPr indent="0" marL="0">
              <a:spcAft>
                <a:spcPts val="800"/>
              </a:spcAft>
              <a:buNone/>
            </a:pPr>
            <a:r>
              <a:rPr lang="en-US" sz="1400" b="1" dirty="0">
                <a:solidFill>
                  <a:schemeClr val="tx1"/>
                </a:solidFill>
              </a:rPr>
              <a:t>Skills are keywords</a:t>
            </a:r>
            <a:pPr indent="0" marL="0">
              <a:spcAft>
                <a:spcPts val="800"/>
              </a:spcAft>
              <a:buNone/>
            </a:pPr>
            <a:r>
              <a:rPr lang="en-US" sz="1400" dirty="0">
                <a:solidFill>
                  <a:schemeClr val="tx1"/>
                </a:solidFill>
              </a:rPr>
              <a:t> in postings, not verified proficiency</a:t>
            </a:r>
            <a:endParaRPr lang="en-US" sz="1400" dirty="0"/>
          </a:p>
          <a:p>
            <a:pPr indent="0" marL="0">
              <a:spcAft>
                <a:spcPts val="800"/>
              </a:spcAft>
              <a:buNone/>
            </a:pPr>
            <a:r>
              <a:rPr lang="en-US" sz="1400" b="1" dirty="0">
                <a:solidFill>
                  <a:schemeClr val="tx1"/>
                </a:solidFill>
              </a:rPr>
              <a:t>Salaries are bands</a:t>
            </a:r>
            <a:pPr indent="0" marL="0">
              <a:spcAft>
                <a:spcPts val="800"/>
              </a:spcAft>
              <a:buNone/>
            </a:pPr>
            <a:r>
              <a:rPr lang="en-US" sz="1400" dirty="0">
                <a:solidFill>
                  <a:schemeClr val="tx1"/>
                </a:solidFill>
              </a:rPr>
              <a:t>; people samples are single-company (118, 161)</a:t>
            </a:r>
            <a:endParaRPr lang="en-US" sz="1400" dirty="0"/>
          </a:p>
          <a:p>
            <a:pPr indent="0" marL="0">
              <a:spcAft>
                <a:spcPts val="800"/>
              </a:spcAft>
              <a:buNone/>
            </a:pPr>
            <a:r>
              <a:rPr lang="en-US" sz="1400" b="1" dirty="0">
                <a:solidFill>
                  <a:schemeClr val="tx1"/>
                </a:solidFill>
              </a:rPr>
              <a:t>Senior data separates almost perfectly:</a:t>
            </a:r>
            <a:pPr indent="0" marL="0">
              <a:spcAft>
                <a:spcPts val="800"/>
              </a:spcAft>
              <a:buNone/>
            </a:pPr>
            <a:r>
              <a:rPr lang="en-US" sz="1400" dirty="0">
                <a:solidFill>
                  <a:schemeClr val="tx1"/>
                </a:solidFill>
              </a:rPr>
              <a:t> likely synthetic or pre-screened</a:t>
            </a:r>
            <a:endParaRPr lang="en-US" sz="1400" dirty="0"/>
          </a:p>
        </p:txBody>
      </p:sp>
      <p:sp>
        <p:nvSpPr>
          <p:cNvPr id="4" name="Text 2"/>
          <p:cNvSpPr txBox="1"/>
          <p:nvPr/>
        </p:nvSpPr>
        <p:spPr>
          <a:xfrm>
            <a:off x="4754880" y="1188720"/>
            <a:ext cx="3931920" cy="201168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Next:</a:t>
            </a:r>
            <a:pPr indent="0" marL="0">
              <a:spcAft>
                <a:spcPts val="800"/>
              </a:spcAft>
              <a:buNone/>
            </a:pPr>
            <a:r>
              <a:rPr lang="en-US" sz="1400" dirty="0">
                <a:solidFill>
                  <a:schemeClr val="tx1"/>
                </a:solidFill>
              </a:rPr>
              <a:t> NLP on job descriptions for seniority and scope</a:t>
            </a:r>
            <a:endParaRPr lang="en-US" sz="1400" dirty="0"/>
          </a:p>
          <a:p>
            <a:pPr indent="0" marL="0">
              <a:spcAft>
                <a:spcPts val="800"/>
              </a:spcAft>
              <a:buNone/>
            </a:pPr>
            <a:r>
              <a:rPr lang="en-US" sz="1400" b="1" dirty="0">
                <a:solidFill>
                  <a:schemeClr val="tx1"/>
                </a:solidFill>
              </a:rPr>
              <a:t>Employer fixed effects</a:t>
            </a:r>
            <a:pPr indent="0" marL="0">
              <a:spcAft>
                <a:spcPts val="800"/>
              </a:spcAft>
              <a:buNone/>
            </a:pPr>
            <a:r>
              <a:rPr lang="en-US" sz="1400" dirty="0">
                <a:solidFill>
                  <a:schemeClr val="tx1"/>
                </a:solidFill>
              </a:rPr>
              <a:t> to separate brand from label</a:t>
            </a:r>
            <a:endParaRPr lang="en-US" sz="1400" dirty="0"/>
          </a:p>
          <a:p>
            <a:pPr indent="0" marL="0">
              <a:spcAft>
                <a:spcPts val="800"/>
              </a:spcAft>
              <a:buNone/>
            </a:pPr>
            <a:r>
              <a:rPr lang="en-US" sz="1400" b="1" dirty="0">
                <a:solidFill>
                  <a:schemeClr val="tx1"/>
                </a:solidFill>
              </a:rPr>
              <a:t>Re-run in SAS Model Studio</a:t>
            </a:r>
            <a:pPr indent="0" marL="0">
              <a:spcAft>
                <a:spcPts val="800"/>
              </a:spcAft>
              <a:buNone/>
            </a:pPr>
            <a:r>
              <a:rPr lang="en-US" sz="1400" dirty="0">
                <a:solidFill>
                  <a:schemeClr val="tx1"/>
                </a:solidFill>
              </a:rPr>
              <a:t> for governed deployment</a:t>
            </a:r>
            <a:endParaRPr lang="en-US" sz="1400" dirty="0"/>
          </a:p>
        </p:txBody>
      </p:sp>
      <p:sp>
        <p:nvSpPr>
          <p:cNvPr id="5" name="Shape 3"/>
          <p:cNvSpPr/>
          <p:nvPr/>
        </p:nvSpPr>
        <p:spPr>
          <a:xfrm>
            <a:off x="4754880" y="3429000"/>
            <a:ext cx="3931920" cy="1097280"/>
          </a:xfrm>
          <a:prstGeom prst="roundRect">
            <a:avLst>
              <a:gd name="adj" fmla="val 6667"/>
            </a:avLst>
          </a:prstGeom>
          <a:solidFill>
            <a:srgbClr val="1B1F3B"/>
          </a:solidFill>
          <a:ln w="12700">
            <a:solidFill>
              <a:srgbClr val="1B1F3B"/>
            </a:solidFill>
            <a:prstDash val="solid"/>
          </a:ln>
        </p:spPr>
      </p:sp>
      <p:sp>
        <p:nvSpPr>
          <p:cNvPr id="6" name="Text 4"/>
          <p:cNvSpPr txBox="1"/>
          <p:nvPr/>
        </p:nvSpPr>
        <p:spPr>
          <a:xfrm>
            <a:off x="4937760" y="3566160"/>
            <a:ext cx="3566160" cy="82296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Thank you — questions?</a:t>
            </a:r>
            <a:endParaRPr lang="en-US" sz="2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6"/>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Skills vs Labels">
  <a:themeElements>
    <a:clrScheme name="Skills vs Labels">
      <a:dk1>
        <a:srgbClr val="1B1F3B"/>
      </a:dk1>
      <a:lt1>
        <a:srgbClr val="FFFFFF"/>
      </a:lt1>
      <a:dk2>
        <a:srgbClr val="3B4466"/>
      </a:dk2>
      <a:lt2>
        <a:srgbClr val="F2F3F7"/>
      </a:lt2>
      <a:accent1>
        <a:srgbClr val="E8673C"/>
      </a:accent1>
      <a:accent2>
        <a:srgbClr val="2A78D6"/>
      </a:accent2>
      <a:accent3>
        <a:srgbClr val="1BAF7A"/>
      </a:accent3>
      <a:accent4>
        <a:srgbClr val="EDA100"/>
      </a:accent4>
      <a:accent5>
        <a:srgbClr val="8A93A6"/>
      </a:accent5>
      <a:accent6>
        <a:srgbClr val="E34948"/>
      </a:accent6>
      <a:hlink>
        <a:srgbClr val="2A78D6"/>
      </a:hlink>
      <a:folHlink>
        <a:srgbClr val="6B4FBB"/>
      </a:folHlink>
    </a:clrScheme>
    <a:fontScheme name="Skills vs Label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 vs Labels</dc:title>
  <dc:subject>PptxGenJS Presentation</dc:subject>
  <dc:creator>Team AkuuJii</dc:creator>
  <cp:lastModifiedBy>Team AkuuJii</cp:lastModifiedBy>
  <cp:revision>1</cp:revision>
  <dcterms:created xsi:type="dcterms:W3CDTF">2026-10-07T10:20:54Z</dcterms:created>
  <dcterms:modified xsi:type="dcterms:W3CDTF">2026-10-07T10:20:54Z</dcterms:modified>
</cp:coreProperties>
</file>